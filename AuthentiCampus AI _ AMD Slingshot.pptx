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8" r:id="rId9"/>
    <p:sldId id="263" r:id="rId10"/>
    <p:sldId id="264" r:id="rId11"/>
    <p:sldId id="265" r:id="rId12"/>
    <p:sldId id="266" r:id="rId13"/>
    <p:sldId id="267" r:id="rId14"/>
    <p:sldId id="269" r:id="rId15"/>
    <p:sldId id="270" r:id="rId16"/>
  </p:sldIdLst>
  <p:sldSz cx="9144000" cy="5143500" type="screen16x9"/>
  <p:notesSz cx="6858000" cy="9144000"/>
  <p:embeddedFontLst>
    <p:embeddedFont>
      <p:font typeface="Poppins" panose="00000500000000000000" pitchFamily="2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91" d="100"/>
          <a:sy n="91" d="100"/>
        </p:scale>
        <p:origin x="786" y="12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7fa3dcd40f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61" name="Google Shape;61;g37fa3dcd40f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7fa3dcd40f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69" name="Google Shape;69;g37fa3dcd40f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7fa3dcd40f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78" name="Google Shape;78;g37fa3dcd40f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7fa3dcd40f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86" name="Google Shape;86;g37fa3dcd40f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7fa3dcd40f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94" name="Google Shape;94;g37fa3dcd40f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7fa3dcd40f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02" name="Google Shape;102;g37fa3dcd40f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7fa3dcd40f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51" name="Google Shape;151;g37fa3dcd40f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7fa3dcd40f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10" name="Google Shape;110;g37fa3dcd40f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7fa3dcd40f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18" name="Google Shape;118;g37fa3dcd40f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7fa3dcd40f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26" name="Google Shape;126;g37fa3dcd40f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7fa3dcd40f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34" name="Google Shape;134;g37fa3dcd40f_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7fa3dcd40f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43" name="Google Shape;143;g37fa3dcd40f_0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81babfb1b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57" name="Google Shape;157;g381babfb1b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7fa3dcd40f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63" name="Google Shape;163;g37fa3dcd40f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18" Type="http://schemas.openxmlformats.org/officeDocument/2006/relationships/image" Target="../media/image16.sv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14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svg"/><Relationship Id="rId4" Type="http://schemas.openxmlformats.org/officeDocument/2006/relationships/image" Target="../media/image1.png"/><Relationship Id="rId9" Type="http://schemas.openxmlformats.org/officeDocument/2006/relationships/image" Target="../media/image7.png"/><Relationship Id="rId14" Type="http://schemas.openxmlformats.org/officeDocument/2006/relationships/image" Target="../media/image12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svg"/><Relationship Id="rId3" Type="http://schemas.openxmlformats.org/officeDocument/2006/relationships/image" Target="../media/image2.png"/><Relationship Id="rId7" Type="http://schemas.openxmlformats.org/officeDocument/2006/relationships/image" Target="../media/image19.svg"/><Relationship Id="rId12" Type="http://schemas.openxmlformats.org/officeDocument/2006/relationships/image" Target="../media/image24.png"/><Relationship Id="rId17" Type="http://schemas.openxmlformats.org/officeDocument/2006/relationships/image" Target="../media/image29.sv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23.svg"/><Relationship Id="rId5" Type="http://schemas.openxmlformats.org/officeDocument/2006/relationships/image" Target="../media/image17.png"/><Relationship Id="rId15" Type="http://schemas.openxmlformats.org/officeDocument/2006/relationships/image" Target="../media/image27.svg"/><Relationship Id="rId10" Type="http://schemas.openxmlformats.org/officeDocument/2006/relationships/image" Target="../media/image22.png"/><Relationship Id="rId4" Type="http://schemas.openxmlformats.org/officeDocument/2006/relationships/image" Target="../media/image1.png"/><Relationship Id="rId9" Type="http://schemas.openxmlformats.org/officeDocument/2006/relationships/image" Target="../media/image21.svg"/><Relationship Id="rId14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6" name="Google Shape;56;p13" title="AMD.PS.S1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179825" y="331632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Team Details</a:t>
            </a:r>
            <a:endParaRPr sz="1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540825" y="3778025"/>
            <a:ext cx="3000000" cy="8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➔"/>
            </a:pPr>
            <a:r>
              <a:rPr lang="en-GB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Team name - 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➔"/>
            </a:pPr>
            <a:r>
              <a:rPr lang="en-GB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Team leader name - 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➔"/>
            </a:pPr>
            <a:r>
              <a:rPr lang="en-GB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Problem Statement -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620" b="1" dirty="0">
                <a:latin typeface="Poppins"/>
                <a:ea typeface="Poppins"/>
                <a:cs typeface="Poppins"/>
                <a:sym typeface="Poppins"/>
              </a:rPr>
              <a:t>Brief about the idea</a:t>
            </a:r>
            <a:endParaRPr sz="1620" b="1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4" name="Google Shape;64;p14"/>
          <p:cNvSpPr txBox="1">
            <a:spLocks noGrp="1"/>
          </p:cNvSpPr>
          <p:nvPr>
            <p:ph type="subTitle" idx="1"/>
          </p:nvPr>
        </p:nvSpPr>
        <p:spPr>
          <a:xfrm>
            <a:off x="0" y="1249775"/>
            <a:ext cx="9144000" cy="3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600" b="1" u="sng" dirty="0" err="1"/>
              <a:t>AuthentiCampus</a:t>
            </a:r>
            <a:r>
              <a:rPr lang="en-US" sz="1600" b="1" u="sng" dirty="0"/>
              <a:t> AI</a:t>
            </a:r>
            <a:r>
              <a:rPr lang="en-US" sz="1600" u="sng" dirty="0"/>
              <a:t> is a consent-first AI system that detects synthetic identities, deepfakes &amp;   AI-generated impersonation in digital campus environments.</a:t>
            </a:r>
          </a:p>
          <a:p>
            <a:pPr>
              <a:lnSpc>
                <a:spcPct val="150000"/>
              </a:lnSpc>
            </a:pPr>
            <a:endParaRPr lang="en-US" sz="5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chemeClr val="tx2">
                    <a:lumMod val="10000"/>
                  </a:schemeClr>
                </a:solidFill>
              </a:rPr>
              <a:t>As generative AI advances:</a:t>
            </a:r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chemeClr val="tx2">
                    <a:lumMod val="10000"/>
                  </a:schemeClr>
                </a:solidFill>
              </a:rPr>
              <a:t>         Institutions face new risks like fake video interviews, voice cloning, and AI-created student profiles. </a:t>
            </a:r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chemeClr val="tx2">
                    <a:lumMod val="10000"/>
                  </a:schemeClr>
                </a:solidFill>
              </a:rPr>
              <a:t>         Traditional security tools are not designed for AI-generated threats.</a:t>
            </a:r>
          </a:p>
          <a:p>
            <a:pPr algn="l">
              <a:lnSpc>
                <a:spcPct val="150000"/>
              </a:lnSpc>
            </a:pPr>
            <a:endParaRPr lang="en-US" sz="500" dirty="0">
              <a:solidFill>
                <a:schemeClr val="tx2">
                  <a:lumMod val="10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tx2">
                    <a:lumMod val="10000"/>
                  </a:schemeClr>
                </a:solidFill>
              </a:rPr>
              <a:t>Our solution provides an explainable authenticity score using privacy-preserving anomaly detection                    — ensuring verification without surveillance.</a:t>
            </a:r>
          </a:p>
          <a:p>
            <a:pPr>
              <a:lnSpc>
                <a:spcPct val="150000"/>
              </a:lnSpc>
            </a:pPr>
            <a:r>
              <a:rPr lang="en-US" sz="1400" b="1" dirty="0" err="1">
                <a:solidFill>
                  <a:schemeClr val="tx2">
                    <a:lumMod val="10000"/>
                  </a:schemeClr>
                </a:solidFill>
              </a:rPr>
              <a:t>AuthentiCampus</a:t>
            </a:r>
            <a:r>
              <a:rPr lang="en-US" sz="1400" b="1" dirty="0">
                <a:solidFill>
                  <a:schemeClr val="tx2">
                    <a:lumMod val="10000"/>
                  </a:schemeClr>
                </a:solidFill>
              </a:rPr>
              <a:t> AI </a:t>
            </a:r>
            <a:r>
              <a:rPr lang="en-US" sz="1400" dirty="0">
                <a:solidFill>
                  <a:schemeClr val="tx2">
                    <a:lumMod val="10000"/>
                  </a:schemeClr>
                </a:solidFill>
              </a:rPr>
              <a:t>builds trust in the age of artificial identities.</a:t>
            </a:r>
          </a:p>
        </p:txBody>
      </p:sp>
      <p:pic>
        <p:nvPicPr>
          <p:cNvPr id="65" name="Google Shape;65;p14" title="AMD.PS.S22.png"/>
          <p:cNvPicPr preferRelativeResize="0"/>
          <p:nvPr/>
        </p:nvPicPr>
        <p:blipFill rotWithShape="1">
          <a:blip r:embed="rId3">
            <a:alphaModFix/>
          </a:blip>
          <a:srcRect b="89082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4" title="AMD.PS.S11.png"/>
          <p:cNvPicPr preferRelativeResize="0"/>
          <p:nvPr/>
        </p:nvPicPr>
        <p:blipFill rotWithShape="1">
          <a:blip r:embed="rId4">
            <a:alphaModFix/>
          </a:blip>
          <a:srcRect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620" b="1" dirty="0">
                <a:latin typeface="Poppins"/>
                <a:ea typeface="Poppins"/>
                <a:cs typeface="Poppins"/>
                <a:sym typeface="Poppins"/>
              </a:rPr>
              <a:t>Opportunities</a:t>
            </a:r>
            <a:endParaRPr sz="1620" b="1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2" name="Google Shape;72;p15"/>
          <p:cNvSpPr txBox="1">
            <a:spLocks noGrp="1"/>
          </p:cNvSpPr>
          <p:nvPr>
            <p:ph type="subTitle" idx="1"/>
          </p:nvPr>
        </p:nvSpPr>
        <p:spPr>
          <a:xfrm>
            <a:off x="311700" y="2087975"/>
            <a:ext cx="8616543" cy="270862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algn="l">
              <a:spcAft>
                <a:spcPts val="500"/>
              </a:spcAft>
            </a:pPr>
            <a:r>
              <a:rPr lang="en-US" sz="1400" b="1" dirty="0"/>
              <a:t>1</a:t>
            </a:r>
            <a:r>
              <a:rPr lang="en-US" sz="1400" dirty="0"/>
              <a:t>. Detects AI-generated identity threats, beyond traditional phishing or malware.</a:t>
            </a:r>
          </a:p>
          <a:p>
            <a:pPr algn="l">
              <a:spcAft>
                <a:spcPts val="500"/>
              </a:spcAft>
            </a:pPr>
            <a:r>
              <a:rPr lang="en-US" sz="1400" dirty="0"/>
              <a:t>    Combines explainable AI with authenticity verification for digital campuses.</a:t>
            </a:r>
          </a:p>
          <a:p>
            <a:pPr algn="l">
              <a:spcAft>
                <a:spcPts val="500"/>
              </a:spcAft>
            </a:pPr>
            <a:r>
              <a:rPr lang="en-US" sz="1400" dirty="0"/>
              <a:t>    Privacy-first, consent-driven approach providing risk scoring without intrusive monitoring.</a:t>
            </a:r>
          </a:p>
          <a:p>
            <a:pPr algn="l">
              <a:spcAft>
                <a:spcPts val="500"/>
              </a:spcAft>
            </a:pPr>
            <a:endParaRPr lang="en-US" sz="500" dirty="0"/>
          </a:p>
          <a:p>
            <a:pPr algn="l">
              <a:spcAft>
                <a:spcPts val="500"/>
              </a:spcAft>
            </a:pPr>
            <a:r>
              <a:rPr lang="en-US" sz="1400" b="1" dirty="0"/>
              <a:t>2. </a:t>
            </a:r>
            <a:r>
              <a:rPr lang="en-US" sz="1400" dirty="0"/>
              <a:t>Detects media and behavioral anomalies, producing a clear authenticity risk score.</a:t>
            </a:r>
          </a:p>
          <a:p>
            <a:pPr algn="l">
              <a:spcAft>
                <a:spcPts val="500"/>
              </a:spcAft>
            </a:pPr>
            <a:r>
              <a:rPr lang="en-US" sz="1400" dirty="0"/>
              <a:t>    Explains suspicious indicators in plain language while protecting privacy—no raw biometric data stored.</a:t>
            </a:r>
          </a:p>
          <a:p>
            <a:pPr algn="l">
              <a:spcAft>
                <a:spcPts val="500"/>
              </a:spcAft>
            </a:pPr>
            <a:r>
              <a:rPr lang="en-US" sz="1400" dirty="0"/>
              <a:t>    Supports institutions in making informed decisions during interviews and submissions.</a:t>
            </a:r>
          </a:p>
          <a:p>
            <a:pPr algn="l">
              <a:spcAft>
                <a:spcPts val="500"/>
              </a:spcAft>
            </a:pPr>
            <a:endParaRPr lang="en-US" sz="500" dirty="0"/>
          </a:p>
          <a:p>
            <a:pPr algn="l">
              <a:spcAft>
                <a:spcPts val="500"/>
              </a:spcAft>
            </a:pPr>
            <a:r>
              <a:rPr lang="en-US" sz="1400" b="1" dirty="0"/>
              <a:t>3.</a:t>
            </a:r>
            <a:r>
              <a:rPr lang="en-US" sz="1400" dirty="0"/>
              <a:t> AI-powered detection of AI-generated fraud with explainable authenticity scoring.</a:t>
            </a:r>
          </a:p>
          <a:p>
            <a:pPr algn="l">
              <a:spcAft>
                <a:spcPts val="500"/>
              </a:spcAft>
            </a:pPr>
            <a:r>
              <a:rPr lang="en-US" sz="1400" dirty="0"/>
              <a:t>    Verification without surveillance, using a privacy-first architecture—no raw biometric data stored.</a:t>
            </a:r>
          </a:p>
          <a:p>
            <a:pPr algn="l">
              <a:spcAft>
                <a:spcPts val="500"/>
              </a:spcAft>
            </a:pPr>
            <a:r>
              <a:rPr lang="en-US" sz="1400" dirty="0"/>
              <a:t>    Future-ready solution designed for 2026 AI-era identity threats.</a:t>
            </a:r>
            <a:endParaRPr lang="en-GB" sz="13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311700" y="1192175"/>
            <a:ext cx="8520600" cy="8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➔"/>
            </a:pPr>
            <a:r>
              <a:rPr lang="en-GB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How different is it from any of the other existing ideas?</a:t>
            </a:r>
            <a:endParaRPr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➔"/>
            </a:pPr>
            <a:r>
              <a:rPr lang="en-GB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How will it be able to solve the problem?</a:t>
            </a:r>
            <a:endParaRPr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➔"/>
            </a:pPr>
            <a:r>
              <a:rPr lang="en-GB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USP of the proposed solution</a:t>
            </a:r>
            <a:endParaRPr dirty="0"/>
          </a:p>
        </p:txBody>
      </p:sp>
      <p:pic>
        <p:nvPicPr>
          <p:cNvPr id="74" name="Google Shape;74;p15" title="AMD.PS.S22.png"/>
          <p:cNvPicPr preferRelativeResize="0"/>
          <p:nvPr/>
        </p:nvPicPr>
        <p:blipFill rotWithShape="1">
          <a:blip r:embed="rId3">
            <a:alphaModFix/>
          </a:blip>
          <a:srcRect b="89082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5" title="AMD.PS.S11.png"/>
          <p:cNvPicPr preferRelativeResize="0"/>
          <p:nvPr/>
        </p:nvPicPr>
        <p:blipFill rotWithShape="1">
          <a:blip r:embed="rId4">
            <a:alphaModFix/>
          </a:blip>
          <a:srcRect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620" b="1" dirty="0">
                <a:latin typeface="Poppins"/>
                <a:ea typeface="Poppins"/>
                <a:cs typeface="Poppins"/>
                <a:sym typeface="Poppins"/>
              </a:rPr>
              <a:t>List of features offered by the solution</a:t>
            </a:r>
            <a:endParaRPr sz="1620" b="1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" name="Google Shape;81;p16"/>
          <p:cNvSpPr txBox="1">
            <a:spLocks noGrp="1"/>
          </p:cNvSpPr>
          <p:nvPr>
            <p:ph type="subTitle" idx="1"/>
          </p:nvPr>
        </p:nvSpPr>
        <p:spPr>
          <a:xfrm>
            <a:off x="311700" y="1249775"/>
            <a:ext cx="8520600" cy="3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algn="l"/>
            <a:r>
              <a:rPr lang="en-US" sz="1600" b="1" kern="300" dirty="0"/>
              <a:t>     Key Features of </a:t>
            </a:r>
            <a:r>
              <a:rPr lang="en-US" sz="1600" b="1" kern="300" dirty="0" err="1"/>
              <a:t>AuthentiCampus</a:t>
            </a:r>
            <a:r>
              <a:rPr lang="en-US" sz="1600" b="1" kern="300" dirty="0"/>
              <a:t> AI :-</a:t>
            </a:r>
          </a:p>
          <a:p>
            <a:pPr algn="l"/>
            <a:endParaRPr lang="en-US" sz="500" b="1" kern="300" dirty="0"/>
          </a:p>
          <a:p>
            <a:pPr algn="l"/>
            <a:endParaRPr lang="en-US" sz="500" b="1" kern="300" dirty="0"/>
          </a:p>
          <a:p>
            <a:pPr lvl="1" algn="l">
              <a:spcAft>
                <a:spcPts val="500"/>
              </a:spcAft>
              <a:buSzPct val="115000"/>
              <a:buFont typeface="Arial" panose="020B0604020202020204" pitchFamily="34" charset="0"/>
              <a:buChar char="•"/>
            </a:pPr>
            <a:r>
              <a:rPr lang="en-US" sz="1400" dirty="0"/>
              <a:t>Consent-based Verification Workflow</a:t>
            </a:r>
          </a:p>
          <a:p>
            <a:pPr lvl="1" algn="l">
              <a:spcAft>
                <a:spcPts val="500"/>
              </a:spcAft>
              <a:buSzPct val="115000"/>
              <a:buFont typeface="Arial" panose="020B0604020202020204" pitchFamily="34" charset="0"/>
              <a:buChar char="•"/>
            </a:pPr>
            <a:r>
              <a:rPr lang="en-US" sz="1400" dirty="0"/>
              <a:t>Synthetic Identity Risk Scoring</a:t>
            </a:r>
          </a:p>
          <a:p>
            <a:pPr lvl="1" algn="l">
              <a:spcAft>
                <a:spcPts val="500"/>
              </a:spcAft>
              <a:buSzPct val="115000"/>
              <a:buFont typeface="Arial" panose="020B0604020202020204" pitchFamily="34" charset="0"/>
              <a:buChar char="•"/>
            </a:pPr>
            <a:r>
              <a:rPr lang="en-US" sz="1400" dirty="0"/>
              <a:t>Deepfake Anomaly Detection (Video/Audio/Text)</a:t>
            </a:r>
          </a:p>
          <a:p>
            <a:pPr lvl="1" algn="l">
              <a:spcAft>
                <a:spcPts val="500"/>
              </a:spcAft>
              <a:buSzPct val="115000"/>
              <a:buFont typeface="Arial" panose="020B0604020202020204" pitchFamily="34" charset="0"/>
              <a:buChar char="•"/>
            </a:pPr>
            <a:r>
              <a:rPr lang="en-US" sz="1400" dirty="0"/>
              <a:t>Ai-generated Content Detection Signals</a:t>
            </a:r>
          </a:p>
          <a:p>
            <a:pPr lvl="1" algn="l">
              <a:spcAft>
                <a:spcPts val="500"/>
              </a:spcAft>
              <a:buSzPct val="115000"/>
              <a:buFont typeface="Arial" panose="020B0604020202020204" pitchFamily="34" charset="0"/>
              <a:buChar char="•"/>
            </a:pPr>
            <a:r>
              <a:rPr lang="en-US" sz="1400" dirty="0"/>
              <a:t>Explainable Authenticity Report (Plain-language Insights)</a:t>
            </a:r>
          </a:p>
          <a:p>
            <a:pPr lvl="1" algn="l">
              <a:spcAft>
                <a:spcPts val="500"/>
              </a:spcAft>
              <a:buSzPct val="115000"/>
              <a:buFont typeface="Arial" panose="020B0604020202020204" pitchFamily="34" charset="0"/>
              <a:buChar char="•"/>
            </a:pPr>
            <a:r>
              <a:rPr lang="en-US" sz="1400" dirty="0"/>
              <a:t>Privacy-preserving Data Processing (No Raw Biometric Storage)</a:t>
            </a:r>
          </a:p>
          <a:p>
            <a:pPr lvl="1" algn="l">
              <a:spcAft>
                <a:spcPts val="500"/>
              </a:spcAft>
              <a:buSzPct val="115000"/>
              <a:buFont typeface="Arial" panose="020B0604020202020204" pitchFamily="34" charset="0"/>
              <a:buChar char="•"/>
            </a:pPr>
            <a:r>
              <a:rPr lang="en-US" sz="1400" dirty="0"/>
              <a:t>Temporary Session-based Verification Tokens</a:t>
            </a:r>
          </a:p>
          <a:p>
            <a:pPr lvl="1" algn="l">
              <a:spcAft>
                <a:spcPts val="500"/>
              </a:spcAft>
              <a:buSzPct val="115000"/>
              <a:buFont typeface="Arial" panose="020B0604020202020204" pitchFamily="34" charset="0"/>
              <a:buChar char="•"/>
            </a:pPr>
            <a:r>
              <a:rPr lang="en-US" sz="1400" dirty="0"/>
              <a:t>Role-based Institutional Access Controls</a:t>
            </a:r>
          </a:p>
          <a:p>
            <a:pPr lvl="1" algn="l">
              <a:spcAft>
                <a:spcPts val="500"/>
              </a:spcAft>
              <a:buSzPct val="115000"/>
              <a:buFont typeface="Arial" panose="020B0604020202020204" pitchFamily="34" charset="0"/>
              <a:buChar char="•"/>
            </a:pPr>
            <a:r>
              <a:rPr lang="en-US" sz="1400" dirty="0"/>
              <a:t>Scalable API Integration For Campus Platforms</a:t>
            </a:r>
          </a:p>
          <a:p>
            <a:pPr lvl="1" algn="l">
              <a:spcAft>
                <a:spcPts val="500"/>
              </a:spcAft>
              <a:buSzPct val="115000"/>
              <a:buFont typeface="Arial" panose="020B0604020202020204" pitchFamily="34" charset="0"/>
              <a:buChar char="•"/>
            </a:pPr>
            <a:r>
              <a:rPr lang="en-US" sz="1400" dirty="0"/>
              <a:t>Audit-ready Verification Logs (Metadata Only)</a:t>
            </a:r>
          </a:p>
        </p:txBody>
      </p:sp>
      <p:pic>
        <p:nvPicPr>
          <p:cNvPr id="82" name="Google Shape;82;p16" title="AMD.PS.S22.png"/>
          <p:cNvPicPr preferRelativeResize="0"/>
          <p:nvPr/>
        </p:nvPicPr>
        <p:blipFill rotWithShape="1">
          <a:blip r:embed="rId3">
            <a:alphaModFix/>
          </a:blip>
          <a:srcRect b="89082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6" title="AMD.PS.S11.png"/>
          <p:cNvPicPr preferRelativeResize="0"/>
          <p:nvPr/>
        </p:nvPicPr>
        <p:blipFill rotWithShape="1">
          <a:blip r:embed="rId4">
            <a:alphaModFix/>
          </a:blip>
          <a:srcRect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F99DE02-6BFE-62CE-3C47-B5492C052A25}"/>
              </a:ext>
            </a:extLst>
          </p:cNvPr>
          <p:cNvSpPr/>
          <p:nvPr/>
        </p:nvSpPr>
        <p:spPr>
          <a:xfrm>
            <a:off x="311700" y="1192175"/>
            <a:ext cx="8520600" cy="3575034"/>
          </a:xfrm>
          <a:prstGeom prst="roundRect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620" b="1" dirty="0">
                <a:latin typeface="Poppins"/>
                <a:ea typeface="Poppins"/>
                <a:cs typeface="Poppins"/>
                <a:sym typeface="Poppins"/>
              </a:rPr>
              <a:t>Process flow diagram or Use-case diagram</a:t>
            </a:r>
            <a:endParaRPr sz="1620" b="1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9" name="Google Shape;89;p17"/>
          <p:cNvSpPr txBox="1">
            <a:spLocks noGrp="1"/>
          </p:cNvSpPr>
          <p:nvPr>
            <p:ph type="subTitle" idx="1"/>
          </p:nvPr>
        </p:nvSpPr>
        <p:spPr>
          <a:xfrm>
            <a:off x="166200" y="1257525"/>
            <a:ext cx="8624538" cy="3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0" name="Google Shape;90;p17" title="AMD.PS.S22.png"/>
          <p:cNvPicPr preferRelativeResize="0"/>
          <p:nvPr/>
        </p:nvPicPr>
        <p:blipFill rotWithShape="1">
          <a:blip r:embed="rId3">
            <a:alphaModFix/>
          </a:blip>
          <a:srcRect b="89082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7" title="AMD.PS.S11.png"/>
          <p:cNvPicPr preferRelativeResize="0"/>
          <p:nvPr/>
        </p:nvPicPr>
        <p:blipFill rotWithShape="1">
          <a:blip r:embed="rId4">
            <a:alphaModFix/>
          </a:blip>
          <a:srcRect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8879339-1CC8-5679-DC2C-C5E50F633B6B}"/>
              </a:ext>
            </a:extLst>
          </p:cNvPr>
          <p:cNvSpPr/>
          <p:nvPr/>
        </p:nvSpPr>
        <p:spPr>
          <a:xfrm>
            <a:off x="457200" y="1375226"/>
            <a:ext cx="1399309" cy="803563"/>
          </a:xfrm>
          <a:prstGeom prst="roundRect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User Provides for Verification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9AB5F9B-2BB2-FDDC-B4D5-ADFF59F4C2D7}"/>
              </a:ext>
            </a:extLst>
          </p:cNvPr>
          <p:cNvSpPr/>
          <p:nvPr/>
        </p:nvSpPr>
        <p:spPr>
          <a:xfrm>
            <a:off x="457200" y="2572555"/>
            <a:ext cx="1399309" cy="803563"/>
          </a:xfrm>
          <a:prstGeom prst="roundRect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Media/Text is uploaded Securely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9B4509A-431D-32FA-343A-8621DB07A3BE}"/>
              </a:ext>
            </a:extLst>
          </p:cNvPr>
          <p:cNvSpPr/>
          <p:nvPr/>
        </p:nvSpPr>
        <p:spPr>
          <a:xfrm>
            <a:off x="457200" y="3855787"/>
            <a:ext cx="1399309" cy="803563"/>
          </a:xfrm>
          <a:prstGeom prst="roundRect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System Layers Authenticity Report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7D29B16-3852-0B2F-E755-7259B8FE45F2}"/>
              </a:ext>
            </a:extLst>
          </p:cNvPr>
          <p:cNvSpPr/>
          <p:nvPr/>
        </p:nvSpPr>
        <p:spPr>
          <a:xfrm>
            <a:off x="2687782" y="1759527"/>
            <a:ext cx="1565563" cy="247996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AI Engine analyzes content for anomaly signals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7D6C3B5-A13D-5E59-8637-659395EF04C6}"/>
              </a:ext>
            </a:extLst>
          </p:cNvPr>
          <p:cNvSpPr/>
          <p:nvPr/>
        </p:nvSpPr>
        <p:spPr>
          <a:xfrm>
            <a:off x="4572000" y="2299855"/>
            <a:ext cx="1212242" cy="1177636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Risk Scoring Algorithms evaluates Authencity 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A9373AB-D9EC-6B7D-158F-E29EC340D238}"/>
              </a:ext>
            </a:extLst>
          </p:cNvPr>
          <p:cNvSpPr/>
          <p:nvPr/>
        </p:nvSpPr>
        <p:spPr>
          <a:xfrm>
            <a:off x="6075247" y="2299855"/>
            <a:ext cx="1212243" cy="1177636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ysClr val="windowText" lastClr="000000"/>
                </a:solidFill>
              </a:rPr>
              <a:t>Privacy Layer Filters sensitive Report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ED03696-85D1-D84F-3141-3063E2133982}"/>
              </a:ext>
            </a:extLst>
          </p:cNvPr>
          <p:cNvSpPr/>
          <p:nvPr/>
        </p:nvSpPr>
        <p:spPr>
          <a:xfrm>
            <a:off x="7578495" y="2299855"/>
            <a:ext cx="1212243" cy="1177636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ysClr val="windowText" lastClr="000000"/>
                </a:solidFill>
              </a:rPr>
              <a:t>Institution/user receives decision-ready insights</a:t>
            </a:r>
          </a:p>
        </p:txBody>
      </p:sp>
      <p:pic>
        <p:nvPicPr>
          <p:cNvPr id="11" name="Graphic 10" descr="Shield Tick with solid fill">
            <a:extLst>
              <a:ext uri="{FF2B5EF4-FFF2-40B4-BE49-F238E27FC236}">
                <a16:creationId xmlns:a16="http://schemas.microsoft.com/office/drawing/2014/main" id="{7F85710B-ECD8-1B7D-38B9-7F1EABC57F2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002009" y="1518973"/>
            <a:ext cx="516067" cy="516067"/>
          </a:xfrm>
          <a:prstGeom prst="rect">
            <a:avLst/>
          </a:prstGeom>
        </p:spPr>
      </p:pic>
      <p:pic>
        <p:nvPicPr>
          <p:cNvPr id="13" name="Graphic 12" descr="Left Brain with solid fill">
            <a:extLst>
              <a:ext uri="{FF2B5EF4-FFF2-40B4-BE49-F238E27FC236}">
                <a16:creationId xmlns:a16="http://schemas.microsoft.com/office/drawing/2014/main" id="{FBDF3E03-0D29-E579-BA8D-CAD610CA46F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081660" y="2151080"/>
            <a:ext cx="457200" cy="457200"/>
          </a:xfrm>
          <a:prstGeom prst="rect">
            <a:avLst/>
          </a:prstGeom>
        </p:spPr>
      </p:pic>
      <p:pic>
        <p:nvPicPr>
          <p:cNvPr id="15" name="Graphic 14" descr="Eye Scan with solid fill">
            <a:extLst>
              <a:ext uri="{FF2B5EF4-FFF2-40B4-BE49-F238E27FC236}">
                <a16:creationId xmlns:a16="http://schemas.microsoft.com/office/drawing/2014/main" id="{62536EEB-9C9D-22F7-E4EA-A0C1D3D2960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078063" y="4069211"/>
            <a:ext cx="440013" cy="440013"/>
          </a:xfrm>
          <a:prstGeom prst="rect">
            <a:avLst/>
          </a:prstGeom>
        </p:spPr>
      </p:pic>
      <p:pic>
        <p:nvPicPr>
          <p:cNvPr id="17" name="Graphic 16" descr="Lock with solid fill">
            <a:extLst>
              <a:ext uri="{FF2B5EF4-FFF2-40B4-BE49-F238E27FC236}">
                <a16:creationId xmlns:a16="http://schemas.microsoft.com/office/drawing/2014/main" id="{31FD4BEC-B488-E0B8-4C80-840213E89A3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068927" y="3373121"/>
            <a:ext cx="482666" cy="482666"/>
          </a:xfrm>
          <a:prstGeom prst="rect">
            <a:avLst/>
          </a:prstGeom>
        </p:spPr>
      </p:pic>
      <p:pic>
        <p:nvPicPr>
          <p:cNvPr id="19" name="Graphic 18" descr="Bar chart outline">
            <a:extLst>
              <a:ext uri="{FF2B5EF4-FFF2-40B4-BE49-F238E27FC236}">
                <a16:creationId xmlns:a16="http://schemas.microsoft.com/office/drawing/2014/main" id="{C56033F3-C9FE-017E-9E7B-4BC2422C2F9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081660" y="2773431"/>
            <a:ext cx="457200" cy="457200"/>
          </a:xfrm>
          <a:prstGeom prst="rect">
            <a:avLst/>
          </a:prstGeom>
        </p:spPr>
      </p:pic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0697011-B337-EFEB-892B-86296F56CED9}"/>
              </a:ext>
            </a:extLst>
          </p:cNvPr>
          <p:cNvCxnSpPr>
            <a:stCxn id="2" idx="2"/>
            <a:endCxn id="3" idx="0"/>
          </p:cNvCxnSpPr>
          <p:nvPr/>
        </p:nvCxnSpPr>
        <p:spPr>
          <a:xfrm flipH="1">
            <a:off x="1156854" y="2178789"/>
            <a:ext cx="1" cy="3929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AE9DB1B-1A1F-ED90-DD72-39D2B3A49069}"/>
              </a:ext>
            </a:extLst>
          </p:cNvPr>
          <p:cNvCxnSpPr/>
          <p:nvPr/>
        </p:nvCxnSpPr>
        <p:spPr>
          <a:xfrm flipH="1">
            <a:off x="1156854" y="3417973"/>
            <a:ext cx="1" cy="3929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892E4B8-06A8-A4BE-C4B4-5A04EC4BA048}"/>
              </a:ext>
            </a:extLst>
          </p:cNvPr>
          <p:cNvCxnSpPr/>
          <p:nvPr/>
        </p:nvCxnSpPr>
        <p:spPr>
          <a:xfrm flipH="1">
            <a:off x="3470563" y="4289217"/>
            <a:ext cx="1" cy="3929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4C4D0E8-2823-839A-3560-12E01E12D77A}"/>
              </a:ext>
            </a:extLst>
          </p:cNvPr>
          <p:cNvCxnSpPr>
            <a:cxnSpLocks/>
          </p:cNvCxnSpPr>
          <p:nvPr/>
        </p:nvCxnSpPr>
        <p:spPr>
          <a:xfrm>
            <a:off x="1918926" y="1777006"/>
            <a:ext cx="1038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65EB616-ADCC-1C04-4B73-6622B79DFD4D}"/>
              </a:ext>
            </a:extLst>
          </p:cNvPr>
          <p:cNvCxnSpPr>
            <a:cxnSpLocks/>
          </p:cNvCxnSpPr>
          <p:nvPr/>
        </p:nvCxnSpPr>
        <p:spPr>
          <a:xfrm>
            <a:off x="1929281" y="4289217"/>
            <a:ext cx="1038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90CA61D2-CBA6-5FCF-BCCF-BC53C1435CAC}"/>
              </a:ext>
            </a:extLst>
          </p:cNvPr>
          <p:cNvCxnSpPr>
            <a:cxnSpLocks/>
          </p:cNvCxnSpPr>
          <p:nvPr/>
        </p:nvCxnSpPr>
        <p:spPr>
          <a:xfrm>
            <a:off x="1929281" y="3040021"/>
            <a:ext cx="1038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E2FFB3A-4EB6-B39D-9A73-3C51840B8F27}"/>
              </a:ext>
            </a:extLst>
          </p:cNvPr>
          <p:cNvCxnSpPr>
            <a:cxnSpLocks/>
          </p:cNvCxnSpPr>
          <p:nvPr/>
        </p:nvCxnSpPr>
        <p:spPr>
          <a:xfrm flipV="1">
            <a:off x="3505199" y="1364034"/>
            <a:ext cx="0" cy="3954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723974E-84E4-825E-071D-4C2CA2F17069}"/>
              </a:ext>
            </a:extLst>
          </p:cNvPr>
          <p:cNvCxnSpPr>
            <a:cxnSpLocks/>
          </p:cNvCxnSpPr>
          <p:nvPr/>
        </p:nvCxnSpPr>
        <p:spPr>
          <a:xfrm>
            <a:off x="4267172" y="2916382"/>
            <a:ext cx="3186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6A283811-0F73-69BA-489E-B8993728C568}"/>
              </a:ext>
            </a:extLst>
          </p:cNvPr>
          <p:cNvCxnSpPr/>
          <p:nvPr/>
        </p:nvCxnSpPr>
        <p:spPr>
          <a:xfrm>
            <a:off x="5784242" y="2916382"/>
            <a:ext cx="3186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A9FF166F-B456-5F96-74BD-BD0CEC8BE0C1}"/>
              </a:ext>
            </a:extLst>
          </p:cNvPr>
          <p:cNvCxnSpPr/>
          <p:nvPr/>
        </p:nvCxnSpPr>
        <p:spPr>
          <a:xfrm>
            <a:off x="7259840" y="2895600"/>
            <a:ext cx="3186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C855C210-5D6E-1575-AEE2-3E9FE2AA368B}"/>
              </a:ext>
            </a:extLst>
          </p:cNvPr>
          <p:cNvCxnSpPr/>
          <p:nvPr/>
        </p:nvCxnSpPr>
        <p:spPr>
          <a:xfrm>
            <a:off x="5195455" y="2035040"/>
            <a:ext cx="318654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9344A0FC-46BB-7D46-59E8-AEE7D1539F2B}"/>
              </a:ext>
            </a:extLst>
          </p:cNvPr>
          <p:cNvCxnSpPr/>
          <p:nvPr/>
        </p:nvCxnSpPr>
        <p:spPr>
          <a:xfrm>
            <a:off x="5195455" y="3810934"/>
            <a:ext cx="318654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3E5AA7C2-F537-25E8-44C3-4BB081B4C564}"/>
              </a:ext>
            </a:extLst>
          </p:cNvPr>
          <p:cNvCxnSpPr/>
          <p:nvPr/>
        </p:nvCxnSpPr>
        <p:spPr>
          <a:xfrm flipV="1">
            <a:off x="5195455" y="3477491"/>
            <a:ext cx="0" cy="3334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8B7FFE19-6D5D-26DB-1A3A-85DC9BDB63FB}"/>
              </a:ext>
            </a:extLst>
          </p:cNvPr>
          <p:cNvCxnSpPr/>
          <p:nvPr/>
        </p:nvCxnSpPr>
        <p:spPr>
          <a:xfrm flipV="1">
            <a:off x="8382000" y="3477491"/>
            <a:ext cx="0" cy="3334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69A03F88-9947-0E2C-A64F-F7288E579F7E}"/>
              </a:ext>
            </a:extLst>
          </p:cNvPr>
          <p:cNvCxnSpPr>
            <a:cxnSpLocks/>
          </p:cNvCxnSpPr>
          <p:nvPr/>
        </p:nvCxnSpPr>
        <p:spPr>
          <a:xfrm>
            <a:off x="8382001" y="2022063"/>
            <a:ext cx="0" cy="2580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16542485-8014-2078-99C0-6065E1768DAE}"/>
              </a:ext>
            </a:extLst>
          </p:cNvPr>
          <p:cNvCxnSpPr>
            <a:cxnSpLocks/>
          </p:cNvCxnSpPr>
          <p:nvPr/>
        </p:nvCxnSpPr>
        <p:spPr>
          <a:xfrm>
            <a:off x="5195455" y="2035040"/>
            <a:ext cx="58" cy="2648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4" name="Graphic 53" descr="Download from cloud with solid fill">
            <a:extLst>
              <a:ext uri="{FF2B5EF4-FFF2-40B4-BE49-F238E27FC236}">
                <a16:creationId xmlns:a16="http://schemas.microsoft.com/office/drawing/2014/main" id="{F77FB509-FD64-3225-3927-78A7BD663DD2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894221" y="1833121"/>
            <a:ext cx="560195" cy="560195"/>
          </a:xfrm>
          <a:prstGeom prst="rect">
            <a:avLst/>
          </a:prstGeom>
        </p:spPr>
      </p:pic>
      <p:pic>
        <p:nvPicPr>
          <p:cNvPr id="56" name="Graphic 55" descr="Upload with solid fill">
            <a:extLst>
              <a:ext uri="{FF2B5EF4-FFF2-40B4-BE49-F238E27FC236}">
                <a16:creationId xmlns:a16="http://schemas.microsoft.com/office/drawing/2014/main" id="{DA54A2C9-D65E-CE8C-D514-31F09F8A54DA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558797" y="1833121"/>
            <a:ext cx="542148" cy="54214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620" b="1" dirty="0">
                <a:latin typeface="Poppins"/>
                <a:ea typeface="Poppins"/>
                <a:cs typeface="Poppins"/>
                <a:sym typeface="Poppins"/>
              </a:rPr>
              <a:t>Wireframes/Mock diagrams of the proposed solution (optional)</a:t>
            </a:r>
            <a:endParaRPr sz="1620" b="1" dirty="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8" name="Google Shape;98;p18" title="AMD.PS.S22.png"/>
          <p:cNvPicPr preferRelativeResize="0"/>
          <p:nvPr/>
        </p:nvPicPr>
        <p:blipFill rotWithShape="1">
          <a:blip r:embed="rId3">
            <a:alphaModFix/>
          </a:blip>
          <a:srcRect b="89082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8" title="AMD.PS.S11.png"/>
          <p:cNvPicPr preferRelativeResize="0"/>
          <p:nvPr/>
        </p:nvPicPr>
        <p:blipFill rotWithShape="1">
          <a:blip r:embed="rId4">
            <a:alphaModFix/>
          </a:blip>
          <a:srcRect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826B7FD-C5B3-DE67-DBFF-F75A316E46C4}"/>
              </a:ext>
            </a:extLst>
          </p:cNvPr>
          <p:cNvSpPr/>
          <p:nvPr/>
        </p:nvSpPr>
        <p:spPr>
          <a:xfrm>
            <a:off x="621586" y="1309464"/>
            <a:ext cx="3000054" cy="1705137"/>
          </a:xfrm>
          <a:prstGeom prst="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111CDD4-F412-F96D-9B55-48941991BC07}"/>
              </a:ext>
            </a:extLst>
          </p:cNvPr>
          <p:cNvSpPr/>
          <p:nvPr/>
        </p:nvSpPr>
        <p:spPr>
          <a:xfrm>
            <a:off x="5205573" y="3309165"/>
            <a:ext cx="3000054" cy="1705137"/>
          </a:xfrm>
          <a:prstGeom prst="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3D5FCC-5121-96D2-130F-1F0A0630D1E4}"/>
              </a:ext>
            </a:extLst>
          </p:cNvPr>
          <p:cNvSpPr/>
          <p:nvPr/>
        </p:nvSpPr>
        <p:spPr>
          <a:xfrm>
            <a:off x="4996533" y="1315092"/>
            <a:ext cx="3209094" cy="1705137"/>
          </a:xfrm>
          <a:prstGeom prst="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843BDE6-F846-FE34-2C2B-FEE124190397}"/>
              </a:ext>
            </a:extLst>
          </p:cNvPr>
          <p:cNvSpPr/>
          <p:nvPr/>
        </p:nvSpPr>
        <p:spPr>
          <a:xfrm>
            <a:off x="621586" y="3309166"/>
            <a:ext cx="3000054" cy="1705137"/>
          </a:xfrm>
          <a:prstGeom prst="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57B2AC8-4273-CB1C-25BA-A13FC80686ED}"/>
              </a:ext>
            </a:extLst>
          </p:cNvPr>
          <p:cNvSpPr/>
          <p:nvPr/>
        </p:nvSpPr>
        <p:spPr>
          <a:xfrm>
            <a:off x="739738" y="1375227"/>
            <a:ext cx="2774024" cy="215925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C0C0C0"/>
              </a:highlight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DDB7D07-3C6D-AA7B-673E-65C47039F4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0008" y="1369716"/>
            <a:ext cx="1565129" cy="254026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FE77448-0B1B-81C5-7276-1CC725DD335E}"/>
              </a:ext>
            </a:extLst>
          </p:cNvPr>
          <p:cNvCxnSpPr/>
          <p:nvPr/>
        </p:nvCxnSpPr>
        <p:spPr>
          <a:xfrm>
            <a:off x="824500" y="2085654"/>
            <a:ext cx="259422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0F13D49-7D7C-72D3-63F4-4C3D45AF9540}"/>
              </a:ext>
            </a:extLst>
          </p:cNvPr>
          <p:cNvCxnSpPr/>
          <p:nvPr/>
        </p:nvCxnSpPr>
        <p:spPr>
          <a:xfrm>
            <a:off x="824500" y="2484634"/>
            <a:ext cx="259422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0A75892-10FE-4A9A-3C77-B2A0ED5D55AB}"/>
              </a:ext>
            </a:extLst>
          </p:cNvPr>
          <p:cNvSpPr/>
          <p:nvPr/>
        </p:nvSpPr>
        <p:spPr>
          <a:xfrm>
            <a:off x="824433" y="1719599"/>
            <a:ext cx="2584784" cy="1177713"/>
          </a:xfrm>
          <a:custGeom>
            <a:avLst/>
            <a:gdLst>
              <a:gd name="csX0" fmla="*/ 0 w 2594226"/>
              <a:gd name="csY0" fmla="*/ 192717 h 1156281"/>
              <a:gd name="csX1" fmla="*/ 192717 w 2594226"/>
              <a:gd name="csY1" fmla="*/ 0 h 1156281"/>
              <a:gd name="csX2" fmla="*/ 2401509 w 2594226"/>
              <a:gd name="csY2" fmla="*/ 0 h 1156281"/>
              <a:gd name="csX3" fmla="*/ 2594226 w 2594226"/>
              <a:gd name="csY3" fmla="*/ 192717 h 1156281"/>
              <a:gd name="csX4" fmla="*/ 2594226 w 2594226"/>
              <a:gd name="csY4" fmla="*/ 963564 h 1156281"/>
              <a:gd name="csX5" fmla="*/ 2401509 w 2594226"/>
              <a:gd name="csY5" fmla="*/ 1156281 h 1156281"/>
              <a:gd name="csX6" fmla="*/ 192717 w 2594226"/>
              <a:gd name="csY6" fmla="*/ 1156281 h 1156281"/>
              <a:gd name="csX7" fmla="*/ 0 w 2594226"/>
              <a:gd name="csY7" fmla="*/ 963564 h 1156281"/>
              <a:gd name="csX8" fmla="*/ 0 w 2594226"/>
              <a:gd name="csY8" fmla="*/ 192717 h 1156281"/>
              <a:gd name="csX0" fmla="*/ 67 w 2594293"/>
              <a:gd name="csY0" fmla="*/ 202991 h 1166555"/>
              <a:gd name="csX1" fmla="*/ 100317 w 2594293"/>
              <a:gd name="csY1" fmla="*/ 0 h 1166555"/>
              <a:gd name="csX2" fmla="*/ 2401576 w 2594293"/>
              <a:gd name="csY2" fmla="*/ 10274 h 1166555"/>
              <a:gd name="csX3" fmla="*/ 2594293 w 2594293"/>
              <a:gd name="csY3" fmla="*/ 202991 h 1166555"/>
              <a:gd name="csX4" fmla="*/ 2594293 w 2594293"/>
              <a:gd name="csY4" fmla="*/ 973838 h 1166555"/>
              <a:gd name="csX5" fmla="*/ 2401576 w 2594293"/>
              <a:gd name="csY5" fmla="*/ 1166555 h 1166555"/>
              <a:gd name="csX6" fmla="*/ 192784 w 2594293"/>
              <a:gd name="csY6" fmla="*/ 1166555 h 1166555"/>
              <a:gd name="csX7" fmla="*/ 67 w 2594293"/>
              <a:gd name="csY7" fmla="*/ 973838 h 1166555"/>
              <a:gd name="csX8" fmla="*/ 67 w 2594293"/>
              <a:gd name="csY8" fmla="*/ 202991 h 1166555"/>
              <a:gd name="csX0" fmla="*/ 67 w 2594293"/>
              <a:gd name="csY0" fmla="*/ 202991 h 1166555"/>
              <a:gd name="csX1" fmla="*/ 100317 w 2594293"/>
              <a:gd name="csY1" fmla="*/ 0 h 1166555"/>
              <a:gd name="csX2" fmla="*/ 2401576 w 2594293"/>
              <a:gd name="csY2" fmla="*/ 10274 h 1166555"/>
              <a:gd name="csX3" fmla="*/ 2594293 w 2594293"/>
              <a:gd name="csY3" fmla="*/ 202991 h 1166555"/>
              <a:gd name="csX4" fmla="*/ 2594293 w 2594293"/>
              <a:gd name="csY4" fmla="*/ 973838 h 1166555"/>
              <a:gd name="csX5" fmla="*/ 2401576 w 2594293"/>
              <a:gd name="csY5" fmla="*/ 1166555 h 1166555"/>
              <a:gd name="csX6" fmla="*/ 100317 w 2594293"/>
              <a:gd name="csY6" fmla="*/ 1166555 h 1166555"/>
              <a:gd name="csX7" fmla="*/ 67 w 2594293"/>
              <a:gd name="csY7" fmla="*/ 973838 h 1166555"/>
              <a:gd name="csX8" fmla="*/ 67 w 2594293"/>
              <a:gd name="csY8" fmla="*/ 202991 h 1166555"/>
              <a:gd name="csX0" fmla="*/ 67 w 2595211"/>
              <a:gd name="csY0" fmla="*/ 202991 h 1166555"/>
              <a:gd name="csX1" fmla="*/ 100317 w 2595211"/>
              <a:gd name="csY1" fmla="*/ 0 h 1166555"/>
              <a:gd name="csX2" fmla="*/ 2401576 w 2595211"/>
              <a:gd name="csY2" fmla="*/ 10274 h 1166555"/>
              <a:gd name="csX3" fmla="*/ 2594293 w 2595211"/>
              <a:gd name="csY3" fmla="*/ 202991 h 1166555"/>
              <a:gd name="csX4" fmla="*/ 2594293 w 2595211"/>
              <a:gd name="csY4" fmla="*/ 973838 h 1166555"/>
              <a:gd name="csX5" fmla="*/ 2504318 w 2595211"/>
              <a:gd name="csY5" fmla="*/ 1166555 h 1166555"/>
              <a:gd name="csX6" fmla="*/ 100317 w 2595211"/>
              <a:gd name="csY6" fmla="*/ 1166555 h 1166555"/>
              <a:gd name="csX7" fmla="*/ 67 w 2595211"/>
              <a:gd name="csY7" fmla="*/ 973838 h 1166555"/>
              <a:gd name="csX8" fmla="*/ 67 w 2595211"/>
              <a:gd name="csY8" fmla="*/ 202991 h 1166555"/>
              <a:gd name="csX0" fmla="*/ 67 w 2597281"/>
              <a:gd name="csY0" fmla="*/ 202991 h 1166555"/>
              <a:gd name="csX1" fmla="*/ 100317 w 2597281"/>
              <a:gd name="csY1" fmla="*/ 0 h 1166555"/>
              <a:gd name="csX2" fmla="*/ 2514591 w 2597281"/>
              <a:gd name="csY2" fmla="*/ 20549 h 1166555"/>
              <a:gd name="csX3" fmla="*/ 2594293 w 2597281"/>
              <a:gd name="csY3" fmla="*/ 202991 h 1166555"/>
              <a:gd name="csX4" fmla="*/ 2594293 w 2597281"/>
              <a:gd name="csY4" fmla="*/ 973838 h 1166555"/>
              <a:gd name="csX5" fmla="*/ 2504318 w 2597281"/>
              <a:gd name="csY5" fmla="*/ 1166555 h 1166555"/>
              <a:gd name="csX6" fmla="*/ 100317 w 2597281"/>
              <a:gd name="csY6" fmla="*/ 1166555 h 1166555"/>
              <a:gd name="csX7" fmla="*/ 67 w 2597281"/>
              <a:gd name="csY7" fmla="*/ 973838 h 1166555"/>
              <a:gd name="csX8" fmla="*/ 67 w 2597281"/>
              <a:gd name="csY8" fmla="*/ 202991 h 1166555"/>
              <a:gd name="csX0" fmla="*/ 67 w 2604758"/>
              <a:gd name="csY0" fmla="*/ 202991 h 1166555"/>
              <a:gd name="csX1" fmla="*/ 100317 w 2604758"/>
              <a:gd name="csY1" fmla="*/ 0 h 1166555"/>
              <a:gd name="csX2" fmla="*/ 2535139 w 2604758"/>
              <a:gd name="csY2" fmla="*/ 10275 h 1166555"/>
              <a:gd name="csX3" fmla="*/ 2594293 w 2604758"/>
              <a:gd name="csY3" fmla="*/ 202991 h 1166555"/>
              <a:gd name="csX4" fmla="*/ 2594293 w 2604758"/>
              <a:gd name="csY4" fmla="*/ 973838 h 1166555"/>
              <a:gd name="csX5" fmla="*/ 2504318 w 2604758"/>
              <a:gd name="csY5" fmla="*/ 1166555 h 1166555"/>
              <a:gd name="csX6" fmla="*/ 100317 w 2604758"/>
              <a:gd name="csY6" fmla="*/ 1166555 h 1166555"/>
              <a:gd name="csX7" fmla="*/ 67 w 2604758"/>
              <a:gd name="csY7" fmla="*/ 973838 h 1166555"/>
              <a:gd name="csX8" fmla="*/ 67 w 2604758"/>
              <a:gd name="csY8" fmla="*/ 202991 h 1166555"/>
              <a:gd name="csX0" fmla="*/ 67 w 2595211"/>
              <a:gd name="csY0" fmla="*/ 202991 h 1166555"/>
              <a:gd name="csX1" fmla="*/ 100317 w 2595211"/>
              <a:gd name="csY1" fmla="*/ 0 h 1166555"/>
              <a:gd name="csX2" fmla="*/ 2473246 w 2595211"/>
              <a:gd name="csY2" fmla="*/ 10275 h 1166555"/>
              <a:gd name="csX3" fmla="*/ 2594293 w 2595211"/>
              <a:gd name="csY3" fmla="*/ 202991 h 1166555"/>
              <a:gd name="csX4" fmla="*/ 2594293 w 2595211"/>
              <a:gd name="csY4" fmla="*/ 973838 h 1166555"/>
              <a:gd name="csX5" fmla="*/ 2504318 w 2595211"/>
              <a:gd name="csY5" fmla="*/ 1166555 h 1166555"/>
              <a:gd name="csX6" fmla="*/ 100317 w 2595211"/>
              <a:gd name="csY6" fmla="*/ 1166555 h 1166555"/>
              <a:gd name="csX7" fmla="*/ 67 w 2595211"/>
              <a:gd name="csY7" fmla="*/ 973838 h 1166555"/>
              <a:gd name="csX8" fmla="*/ 67 w 2595211"/>
              <a:gd name="csY8" fmla="*/ 202991 h 116655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595211" h="1166555">
                <a:moveTo>
                  <a:pt x="67" y="202991"/>
                </a:moveTo>
                <a:cubicBezTo>
                  <a:pt x="67" y="96556"/>
                  <a:pt x="-6118" y="0"/>
                  <a:pt x="100317" y="0"/>
                </a:cubicBezTo>
                <a:lnTo>
                  <a:pt x="2473246" y="10275"/>
                </a:lnTo>
                <a:cubicBezTo>
                  <a:pt x="2579681" y="10275"/>
                  <a:pt x="2594293" y="96556"/>
                  <a:pt x="2594293" y="202991"/>
                </a:cubicBezTo>
                <a:lnTo>
                  <a:pt x="2594293" y="973838"/>
                </a:lnTo>
                <a:cubicBezTo>
                  <a:pt x="2594293" y="1080273"/>
                  <a:pt x="2610753" y="1166555"/>
                  <a:pt x="2504318" y="1166555"/>
                </a:cubicBezTo>
                <a:lnTo>
                  <a:pt x="100317" y="1166555"/>
                </a:lnTo>
                <a:cubicBezTo>
                  <a:pt x="-6118" y="1166555"/>
                  <a:pt x="67" y="1080273"/>
                  <a:pt x="67" y="973838"/>
                </a:cubicBezTo>
                <a:lnTo>
                  <a:pt x="67" y="202991"/>
                </a:lnTo>
                <a:close/>
              </a:path>
            </a:pathLst>
          </a:custGeom>
          <a:noFill/>
          <a:ln w="9525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pic>
        <p:nvPicPr>
          <p:cNvPr id="15" name="Graphic 14" descr="Upload outline">
            <a:extLst>
              <a:ext uri="{FF2B5EF4-FFF2-40B4-BE49-F238E27FC236}">
                <a16:creationId xmlns:a16="http://schemas.microsoft.com/office/drawing/2014/main" id="{C2A9214B-FAF9-6245-89F2-6488CE2AE54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58707" y="1763052"/>
            <a:ext cx="322602" cy="322602"/>
          </a:xfrm>
          <a:prstGeom prst="rect">
            <a:avLst/>
          </a:prstGeom>
        </p:spPr>
      </p:pic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1D22E2D-B295-078F-4EDF-1AA8BBA04BA9}"/>
              </a:ext>
            </a:extLst>
          </p:cNvPr>
          <p:cNvSpPr/>
          <p:nvPr/>
        </p:nvSpPr>
        <p:spPr>
          <a:xfrm>
            <a:off x="1705975" y="1786097"/>
            <a:ext cx="1280280" cy="226031"/>
          </a:xfrm>
          <a:prstGeom prst="roundRect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r>
              <a:rPr lang="en-US" sz="1050" dirty="0"/>
              <a:t>Provide Consent</a:t>
            </a:r>
          </a:p>
        </p:txBody>
      </p:sp>
      <p:pic>
        <p:nvPicPr>
          <p:cNvPr id="19" name="Graphic 18" descr="Browser window outline">
            <a:extLst>
              <a:ext uri="{FF2B5EF4-FFF2-40B4-BE49-F238E27FC236}">
                <a16:creationId xmlns:a16="http://schemas.microsoft.com/office/drawing/2014/main" id="{16DCAED9-E336-B37A-1CE9-1235FC2E544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834711" y="2133618"/>
            <a:ext cx="303088" cy="303088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62656BC-510D-463F-018F-4D22D52C9336}"/>
              </a:ext>
            </a:extLst>
          </p:cNvPr>
          <p:cNvSpPr/>
          <p:nvPr/>
        </p:nvSpPr>
        <p:spPr>
          <a:xfrm>
            <a:off x="1058707" y="2176614"/>
            <a:ext cx="1584005" cy="200994"/>
          </a:xfrm>
          <a:prstGeom prst="roundRect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r>
              <a:rPr lang="en-US" sz="1050" dirty="0"/>
              <a:t>Upload Media/Text file</a:t>
            </a: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CC62F674-616E-42ED-1E08-548D05494C12}"/>
              </a:ext>
            </a:extLst>
          </p:cNvPr>
          <p:cNvSpPr/>
          <p:nvPr/>
        </p:nvSpPr>
        <p:spPr>
          <a:xfrm>
            <a:off x="1058707" y="2584783"/>
            <a:ext cx="172292" cy="172292"/>
          </a:xfrm>
          <a:custGeom>
            <a:avLst/>
            <a:gdLst>
              <a:gd name="csX0" fmla="*/ 0 w 172292"/>
              <a:gd name="csY0" fmla="*/ 0 h 172292"/>
              <a:gd name="csX1" fmla="*/ 0 w 172292"/>
              <a:gd name="csY1" fmla="*/ 172293 h 172292"/>
              <a:gd name="csX2" fmla="*/ 172293 w 172292"/>
              <a:gd name="csY2" fmla="*/ 172293 h 172292"/>
              <a:gd name="csX3" fmla="*/ 172293 w 172292"/>
              <a:gd name="csY3" fmla="*/ 0 h 172292"/>
              <a:gd name="csX4" fmla="*/ 153149 w 172292"/>
              <a:gd name="csY4" fmla="*/ 153149 h 172292"/>
              <a:gd name="csX5" fmla="*/ 19144 w 172292"/>
              <a:gd name="csY5" fmla="*/ 153149 h 172292"/>
              <a:gd name="csX6" fmla="*/ 19144 w 172292"/>
              <a:gd name="csY6" fmla="*/ 19144 h 172292"/>
              <a:gd name="csX7" fmla="*/ 153149 w 172292"/>
              <a:gd name="csY7" fmla="*/ 19144 h 17229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72292" h="172292">
                <a:moveTo>
                  <a:pt x="0" y="0"/>
                </a:moveTo>
                <a:lnTo>
                  <a:pt x="0" y="172293"/>
                </a:lnTo>
                <a:lnTo>
                  <a:pt x="172293" y="172293"/>
                </a:lnTo>
                <a:lnTo>
                  <a:pt x="172293" y="0"/>
                </a:lnTo>
                <a:close/>
                <a:moveTo>
                  <a:pt x="153149" y="153149"/>
                </a:moveTo>
                <a:lnTo>
                  <a:pt x="19144" y="153149"/>
                </a:lnTo>
                <a:lnTo>
                  <a:pt x="19144" y="19144"/>
                </a:lnTo>
                <a:lnTo>
                  <a:pt x="153149" y="19144"/>
                </a:lnTo>
                <a:close/>
              </a:path>
            </a:pathLst>
          </a:custGeom>
          <a:solidFill>
            <a:schemeClr val="lt1"/>
          </a:solidFill>
          <a:ln w="12700" cap="flat">
            <a:solidFill>
              <a:srgbClr val="00B050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C9418F4B-9CE9-CDAB-8DC8-6F948BDB4A80}"/>
              </a:ext>
            </a:extLst>
          </p:cNvPr>
          <p:cNvSpPr/>
          <p:nvPr/>
        </p:nvSpPr>
        <p:spPr>
          <a:xfrm>
            <a:off x="1084509" y="2628021"/>
            <a:ext cx="112583" cy="85817"/>
          </a:xfrm>
          <a:custGeom>
            <a:avLst/>
            <a:gdLst>
              <a:gd name="csX0" fmla="*/ 112584 w 112583"/>
              <a:gd name="csY0" fmla="*/ 13672 h 85817"/>
              <a:gd name="csX1" fmla="*/ 99183 w 112583"/>
              <a:gd name="csY1" fmla="*/ 0 h 85817"/>
              <a:gd name="csX2" fmla="*/ 39094 w 112583"/>
              <a:gd name="csY2" fmla="*/ 58883 h 85817"/>
              <a:gd name="csX3" fmla="*/ 13538 w 112583"/>
              <a:gd name="csY3" fmla="*/ 33326 h 85817"/>
              <a:gd name="csX4" fmla="*/ 0 w 112583"/>
              <a:gd name="csY4" fmla="*/ 46860 h 85817"/>
              <a:gd name="csX5" fmla="*/ 38957 w 112583"/>
              <a:gd name="csY5" fmla="*/ 85818 h 85817"/>
              <a:gd name="csX6" fmla="*/ 112584 w 112583"/>
              <a:gd name="csY6" fmla="*/ 13672 h 8581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12583" h="85817">
                <a:moveTo>
                  <a:pt x="112584" y="13672"/>
                </a:moveTo>
                <a:lnTo>
                  <a:pt x="99183" y="0"/>
                </a:lnTo>
                <a:lnTo>
                  <a:pt x="39094" y="58883"/>
                </a:lnTo>
                <a:lnTo>
                  <a:pt x="13538" y="33326"/>
                </a:lnTo>
                <a:lnTo>
                  <a:pt x="0" y="46860"/>
                </a:lnTo>
                <a:lnTo>
                  <a:pt x="38957" y="85818"/>
                </a:lnTo>
                <a:lnTo>
                  <a:pt x="112584" y="13672"/>
                </a:lnTo>
                <a:close/>
              </a:path>
            </a:pathLst>
          </a:custGeom>
          <a:solidFill>
            <a:schemeClr val="lt1"/>
          </a:solidFill>
          <a:ln w="12700" cap="flat">
            <a:solidFill>
              <a:srgbClr val="0070C0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0786C93F-1FB3-4417-5968-0462C76C6FB0}"/>
              </a:ext>
            </a:extLst>
          </p:cNvPr>
          <p:cNvSpPr/>
          <p:nvPr/>
        </p:nvSpPr>
        <p:spPr>
          <a:xfrm>
            <a:off x="1381309" y="2565330"/>
            <a:ext cx="1916695" cy="211200"/>
          </a:xfrm>
          <a:prstGeom prst="roundRect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r>
              <a:rPr lang="en-US" sz="1000" dirty="0"/>
              <a:t>Files are Securely Processed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B34E7769-A159-108A-9AAF-C4B20100DC06}"/>
              </a:ext>
            </a:extLst>
          </p:cNvPr>
          <p:cNvSpPr/>
          <p:nvPr/>
        </p:nvSpPr>
        <p:spPr>
          <a:xfrm>
            <a:off x="5318588" y="1384159"/>
            <a:ext cx="2774024" cy="20699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accent1"/>
                </a:solidFill>
              </a:rPr>
              <a:t>2. AI Analysis &amp; Risk Scoring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7F204B1-1B0F-AB66-F98D-3DCDF5126511}"/>
              </a:ext>
            </a:extLst>
          </p:cNvPr>
          <p:cNvSpPr/>
          <p:nvPr/>
        </p:nvSpPr>
        <p:spPr>
          <a:xfrm>
            <a:off x="4316025" y="1714069"/>
            <a:ext cx="2043555" cy="106246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4D06132-E9AB-1B20-E586-A8DFBE2241E6}"/>
              </a:ext>
            </a:extLst>
          </p:cNvPr>
          <p:cNvSpPr/>
          <p:nvPr/>
        </p:nvSpPr>
        <p:spPr>
          <a:xfrm>
            <a:off x="6952129" y="1714069"/>
            <a:ext cx="2043555" cy="1062461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1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75C09D22-2ECF-02E4-EB87-3122272ADD95}"/>
              </a:ext>
            </a:extLst>
          </p:cNvPr>
          <p:cNvSpPr/>
          <p:nvPr/>
        </p:nvSpPr>
        <p:spPr>
          <a:xfrm>
            <a:off x="4499552" y="1826951"/>
            <a:ext cx="1676500" cy="255347"/>
          </a:xfrm>
          <a:prstGeom prst="round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accent1"/>
                </a:solidFill>
              </a:rPr>
              <a:t>AI Engine Analysis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3D4B8EFC-A421-ADC7-874A-A2836389B1A9}"/>
              </a:ext>
            </a:extLst>
          </p:cNvPr>
          <p:cNvSpPr/>
          <p:nvPr/>
        </p:nvSpPr>
        <p:spPr>
          <a:xfrm>
            <a:off x="7155800" y="1826951"/>
            <a:ext cx="1676500" cy="255347"/>
          </a:xfrm>
          <a:prstGeom prst="round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accent1"/>
                </a:solidFill>
              </a:rPr>
              <a:t>Risk Scoring Algorithm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DDDF0358-5849-B86D-F604-A4DE435533A9}"/>
              </a:ext>
            </a:extLst>
          </p:cNvPr>
          <p:cNvSpPr/>
          <p:nvPr/>
        </p:nvSpPr>
        <p:spPr>
          <a:xfrm>
            <a:off x="4499552" y="2176831"/>
            <a:ext cx="1678013" cy="815904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Object Detection, Sentiment Analysis, Deepfake </a:t>
            </a:r>
          </a:p>
        </p:txBody>
      </p:sp>
      <p:pic>
        <p:nvPicPr>
          <p:cNvPr id="34" name="Graphic 33" descr="Processor with solid fill">
            <a:extLst>
              <a:ext uri="{FF2B5EF4-FFF2-40B4-BE49-F238E27FC236}">
                <a16:creationId xmlns:a16="http://schemas.microsoft.com/office/drawing/2014/main" id="{7C22CFE3-D89D-B740-1712-D93060A1613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545452" y="2633417"/>
            <a:ext cx="359318" cy="359318"/>
          </a:xfrm>
          <a:prstGeom prst="rect">
            <a:avLst/>
          </a:prstGeom>
        </p:spPr>
      </p:pic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F282F25C-D3E3-3D26-4C74-95DE82F8100A}"/>
              </a:ext>
            </a:extLst>
          </p:cNvPr>
          <p:cNvSpPr/>
          <p:nvPr/>
        </p:nvSpPr>
        <p:spPr>
          <a:xfrm>
            <a:off x="7155800" y="2245299"/>
            <a:ext cx="1678013" cy="815904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Authenticity: 84%</a:t>
            </a:r>
          </a:p>
        </p:txBody>
      </p:sp>
      <p:pic>
        <p:nvPicPr>
          <p:cNvPr id="37" name="Graphic 36" descr="Pie chart outline">
            <a:extLst>
              <a:ext uri="{FF2B5EF4-FFF2-40B4-BE49-F238E27FC236}">
                <a16:creationId xmlns:a16="http://schemas.microsoft.com/office/drawing/2014/main" id="{2246176E-8D2A-B819-9A93-44780BFE58E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319567" y="2771606"/>
            <a:ext cx="253547" cy="253547"/>
          </a:xfrm>
          <a:prstGeom prst="rect">
            <a:avLst/>
          </a:prstGeom>
        </p:spPr>
      </p:pic>
      <p:pic>
        <p:nvPicPr>
          <p:cNvPr id="39" name="Graphic 38" descr="Gauge with solid fill">
            <a:extLst>
              <a:ext uri="{FF2B5EF4-FFF2-40B4-BE49-F238E27FC236}">
                <a16:creationId xmlns:a16="http://schemas.microsoft.com/office/drawing/2014/main" id="{257C9531-2B2B-DC97-8A85-5E6BEDD4AF60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477781" y="2752575"/>
            <a:ext cx="273673" cy="273673"/>
          </a:xfrm>
          <a:prstGeom prst="rect">
            <a:avLst/>
          </a:prstGeom>
        </p:spPr>
      </p:pic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E7A8151B-0BA2-B69F-3C4B-BAD00B368450}"/>
              </a:ext>
            </a:extLst>
          </p:cNvPr>
          <p:cNvSpPr/>
          <p:nvPr/>
        </p:nvSpPr>
        <p:spPr>
          <a:xfrm>
            <a:off x="739738" y="3462391"/>
            <a:ext cx="2774024" cy="224441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accent1">
                    <a:lumMod val="75000"/>
                  </a:schemeClr>
                </a:solidFill>
              </a:rPr>
              <a:t>3. Privacy Layer &amp; Reporting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2A9E9E5-1603-0C67-9F17-5FBB97EC5195}"/>
              </a:ext>
            </a:extLst>
          </p:cNvPr>
          <p:cNvSpPr/>
          <p:nvPr/>
        </p:nvSpPr>
        <p:spPr>
          <a:xfrm>
            <a:off x="824433" y="3821987"/>
            <a:ext cx="1528349" cy="326757"/>
          </a:xfrm>
          <a:prstGeom prst="rect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r>
              <a:rPr lang="en-US" sz="900" dirty="0"/>
              <a:t>           Privacy Layer Filter</a:t>
            </a:r>
          </a:p>
        </p:txBody>
      </p:sp>
      <p:pic>
        <p:nvPicPr>
          <p:cNvPr id="43" name="Graphic 42" descr="No sign outline">
            <a:extLst>
              <a:ext uri="{FF2B5EF4-FFF2-40B4-BE49-F238E27FC236}">
                <a16:creationId xmlns:a16="http://schemas.microsoft.com/office/drawing/2014/main" id="{68A385EA-6D14-99B5-4D3F-D36AB2E78676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82449" y="3860791"/>
            <a:ext cx="258820" cy="258820"/>
          </a:xfrm>
          <a:prstGeom prst="rect">
            <a:avLst/>
          </a:prstGeom>
        </p:spPr>
      </p:pic>
      <p:sp>
        <p:nvSpPr>
          <p:cNvPr id="44" name="Rectangle 43">
            <a:extLst>
              <a:ext uri="{FF2B5EF4-FFF2-40B4-BE49-F238E27FC236}">
                <a16:creationId xmlns:a16="http://schemas.microsoft.com/office/drawing/2014/main" id="{72266EF0-5C72-F667-128A-A9104D70B580}"/>
              </a:ext>
            </a:extLst>
          </p:cNvPr>
          <p:cNvSpPr/>
          <p:nvPr/>
        </p:nvSpPr>
        <p:spPr>
          <a:xfrm>
            <a:off x="824433" y="4235546"/>
            <a:ext cx="1818279" cy="656388"/>
          </a:xfrm>
          <a:prstGeom prst="rect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accent1">
                    <a:lumMod val="75000"/>
                  </a:schemeClr>
                </a:solidFill>
              </a:rPr>
              <a:t>Explainable Authencity Report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900" dirty="0"/>
              <a:t>Source Traceable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900" dirty="0"/>
              <a:t>Detection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900" dirty="0"/>
              <a:t>Confidence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900" dirty="0"/>
              <a:t>Recommendation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2DE919D-803E-2B7F-A9EA-CB575CD8690B}"/>
              </a:ext>
            </a:extLst>
          </p:cNvPr>
          <p:cNvSpPr/>
          <p:nvPr/>
        </p:nvSpPr>
        <p:spPr>
          <a:xfrm>
            <a:off x="5763801" y="3419206"/>
            <a:ext cx="2090393" cy="247376"/>
          </a:xfrm>
          <a:prstGeom prst="rect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accent1">
                    <a:lumMod val="75000"/>
                  </a:schemeClr>
                </a:solidFill>
              </a:rPr>
              <a:t>4.Decision Ready Insight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34942FC7-E2F0-74CC-4653-C01D9A8321E9}"/>
              </a:ext>
            </a:extLst>
          </p:cNvPr>
          <p:cNvSpPr/>
          <p:nvPr/>
        </p:nvSpPr>
        <p:spPr>
          <a:xfrm>
            <a:off x="5550414" y="3819268"/>
            <a:ext cx="2517168" cy="1072666"/>
          </a:xfrm>
          <a:prstGeom prst="roundRect">
            <a:avLst>
              <a:gd name="adj" fmla="val 6975"/>
            </a:avLst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CDEF2645-1F82-2D84-89C9-381B42E656F5}"/>
              </a:ext>
            </a:extLst>
          </p:cNvPr>
          <p:cNvCxnSpPr/>
          <p:nvPr/>
        </p:nvCxnSpPr>
        <p:spPr>
          <a:xfrm>
            <a:off x="5550414" y="4129886"/>
            <a:ext cx="251716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0ACD3AE5-86BD-1D5F-6602-7009A7CB0911}"/>
              </a:ext>
            </a:extLst>
          </p:cNvPr>
          <p:cNvCxnSpPr/>
          <p:nvPr/>
        </p:nvCxnSpPr>
        <p:spPr>
          <a:xfrm>
            <a:off x="5550414" y="4563740"/>
            <a:ext cx="251716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19A82CF5-D331-605E-1AB7-8194D6249646}"/>
              </a:ext>
            </a:extLst>
          </p:cNvPr>
          <p:cNvSpPr/>
          <p:nvPr/>
        </p:nvSpPr>
        <p:spPr>
          <a:xfrm>
            <a:off x="5897364" y="3860332"/>
            <a:ext cx="1823265" cy="250173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Verdict: AUTHENTIC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91886A66-0C43-0623-2751-70B1C77DE2DA}"/>
              </a:ext>
            </a:extLst>
          </p:cNvPr>
          <p:cNvSpPr/>
          <p:nvPr/>
        </p:nvSpPr>
        <p:spPr>
          <a:xfrm>
            <a:off x="5719934" y="4235546"/>
            <a:ext cx="2178123" cy="245953"/>
          </a:xfrm>
          <a:prstGeom prst="rect">
            <a:avLst/>
          </a:prstGeom>
          <a:noFill/>
          <a:ln w="9525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Confidence Score : 92%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5D9673E0-45FB-B72E-547B-3D9390B2F5E3}"/>
              </a:ext>
            </a:extLst>
          </p:cNvPr>
          <p:cNvSpPr/>
          <p:nvPr/>
        </p:nvSpPr>
        <p:spPr>
          <a:xfrm>
            <a:off x="6038315" y="4620608"/>
            <a:ext cx="1576302" cy="2479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View Detailed Report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620" b="1" dirty="0">
                <a:latin typeface="Poppins"/>
                <a:ea typeface="Poppins"/>
                <a:cs typeface="Poppins"/>
                <a:sym typeface="Poppins"/>
              </a:rPr>
              <a:t>Architecture diagram of the proposed solution</a:t>
            </a:r>
            <a:endParaRPr sz="1620" b="1" dirty="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06" name="Google Shape;106;p19" title="AMD.PS.S22.png"/>
          <p:cNvPicPr preferRelativeResize="0"/>
          <p:nvPr/>
        </p:nvPicPr>
        <p:blipFill rotWithShape="1">
          <a:blip r:embed="rId3">
            <a:alphaModFix/>
          </a:blip>
          <a:srcRect b="89082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9" title="AMD.PS.S11.png"/>
          <p:cNvPicPr preferRelativeResize="0"/>
          <p:nvPr/>
        </p:nvPicPr>
        <p:blipFill rotWithShape="1">
          <a:blip r:embed="rId4">
            <a:alphaModFix/>
          </a:blip>
          <a:srcRect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1AC029B-504C-9825-B3F1-BDB9F09C57C5}"/>
              </a:ext>
            </a:extLst>
          </p:cNvPr>
          <p:cNvSpPr/>
          <p:nvPr/>
        </p:nvSpPr>
        <p:spPr>
          <a:xfrm>
            <a:off x="1311667" y="1516611"/>
            <a:ext cx="6780944" cy="60158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841B2A4-2968-9585-3615-92FB31EC7066}"/>
              </a:ext>
            </a:extLst>
          </p:cNvPr>
          <p:cNvSpPr/>
          <p:nvPr/>
        </p:nvSpPr>
        <p:spPr>
          <a:xfrm>
            <a:off x="1311666" y="2406196"/>
            <a:ext cx="6780944" cy="54516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1983C7C-7360-02F1-8B43-B1827D2E2A94}"/>
              </a:ext>
            </a:extLst>
          </p:cNvPr>
          <p:cNvSpPr/>
          <p:nvPr/>
        </p:nvSpPr>
        <p:spPr>
          <a:xfrm>
            <a:off x="1311666" y="1778018"/>
            <a:ext cx="1935015" cy="3331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Student / Application Web Interface (Web/App)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07183DF-BFED-AA75-1BA7-B6C7FE89DA2C}"/>
              </a:ext>
            </a:extLst>
          </p:cNvPr>
          <p:cNvSpPr/>
          <p:nvPr/>
        </p:nvSpPr>
        <p:spPr>
          <a:xfrm>
            <a:off x="3864794" y="1811650"/>
            <a:ext cx="1674689" cy="2995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Institution Admin Dashboard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E1B9E50-912B-C404-5849-6ADE1CC4C79F}"/>
              </a:ext>
            </a:extLst>
          </p:cNvPr>
          <p:cNvSpPr/>
          <p:nvPr/>
        </p:nvSpPr>
        <p:spPr>
          <a:xfrm>
            <a:off x="6304906" y="1817403"/>
            <a:ext cx="1787705" cy="2995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Secured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92DF483-46A4-92F4-1B3F-D08A0B911629}"/>
              </a:ext>
            </a:extLst>
          </p:cNvPr>
          <p:cNvSpPr/>
          <p:nvPr/>
        </p:nvSpPr>
        <p:spPr>
          <a:xfrm>
            <a:off x="1311666" y="1570482"/>
            <a:ext cx="1397287" cy="14877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spc="100" dirty="0">
                <a:solidFill>
                  <a:schemeClr val="tx1"/>
                </a:solidFill>
              </a:rPr>
              <a:t>1. Client Layer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2BC4B0-53E6-6450-5D04-0AC04231BD0E}"/>
              </a:ext>
            </a:extLst>
          </p:cNvPr>
          <p:cNvSpPr/>
          <p:nvPr/>
        </p:nvSpPr>
        <p:spPr>
          <a:xfrm>
            <a:off x="1311665" y="2456321"/>
            <a:ext cx="2075382" cy="15485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2. Consent &amp; Session Layer</a:t>
            </a:r>
            <a:endParaRPr lang="en-US" sz="1100" spc="100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84F2E8A-4E7F-079F-4DC0-EF752E316D92}"/>
              </a:ext>
            </a:extLst>
          </p:cNvPr>
          <p:cNvSpPr/>
          <p:nvPr/>
        </p:nvSpPr>
        <p:spPr>
          <a:xfrm>
            <a:off x="1311665" y="3289483"/>
            <a:ext cx="6780944" cy="54516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F386C86-3C67-8759-0376-ACC091503F29}"/>
              </a:ext>
            </a:extLst>
          </p:cNvPr>
          <p:cNvSpPr/>
          <p:nvPr/>
        </p:nvSpPr>
        <p:spPr>
          <a:xfrm>
            <a:off x="1311665" y="4253941"/>
            <a:ext cx="6780944" cy="54516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474034F-07A3-4657-E26F-7B2A73807870}"/>
              </a:ext>
            </a:extLst>
          </p:cNvPr>
          <p:cNvSpPr/>
          <p:nvPr/>
        </p:nvSpPr>
        <p:spPr>
          <a:xfrm>
            <a:off x="1311666" y="2651547"/>
            <a:ext cx="1935017" cy="2995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Consent Verification Module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0E02C45-805D-D78F-1187-4C17666BE6A3}"/>
              </a:ext>
            </a:extLst>
          </p:cNvPr>
          <p:cNvSpPr/>
          <p:nvPr/>
        </p:nvSpPr>
        <p:spPr>
          <a:xfrm>
            <a:off x="3864794" y="2651547"/>
            <a:ext cx="1674689" cy="2995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Temporary Session Token (JWT-based)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680A607-E018-D33B-73AA-77F94E5ED996}"/>
              </a:ext>
            </a:extLst>
          </p:cNvPr>
          <p:cNvSpPr/>
          <p:nvPr/>
        </p:nvSpPr>
        <p:spPr>
          <a:xfrm>
            <a:off x="6304906" y="2657300"/>
            <a:ext cx="1787705" cy="2995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Role-Based Access Control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B7F7E6D-EB3A-1F96-EFB9-458F19776B97}"/>
              </a:ext>
            </a:extLst>
          </p:cNvPr>
          <p:cNvSpPr/>
          <p:nvPr/>
        </p:nvSpPr>
        <p:spPr>
          <a:xfrm>
            <a:off x="1311664" y="3545058"/>
            <a:ext cx="1935017" cy="2995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Secure File Upload Handler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7992586-E7B3-ADBF-33C0-9D45B280761E}"/>
              </a:ext>
            </a:extLst>
          </p:cNvPr>
          <p:cNvSpPr/>
          <p:nvPr/>
        </p:nvSpPr>
        <p:spPr>
          <a:xfrm>
            <a:off x="3864792" y="3545058"/>
            <a:ext cx="1674689" cy="2995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Request Validation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9AEAFAD-AA0F-0685-7337-78A751D5B0AA}"/>
              </a:ext>
            </a:extLst>
          </p:cNvPr>
          <p:cNvSpPr/>
          <p:nvPr/>
        </p:nvSpPr>
        <p:spPr>
          <a:xfrm>
            <a:off x="6304903" y="3535137"/>
            <a:ext cx="1787705" cy="2995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Encrypted Data Transmission (HTTPS)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C30D8C7-1115-5FB7-FB54-593AD3D89DAC}"/>
              </a:ext>
            </a:extLst>
          </p:cNvPr>
          <p:cNvSpPr/>
          <p:nvPr/>
        </p:nvSpPr>
        <p:spPr>
          <a:xfrm>
            <a:off x="1311664" y="4489838"/>
            <a:ext cx="1935017" cy="2995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Media Feature Extractor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DAB1D30-83C9-D1F6-F13D-CEB60590AA4C}"/>
              </a:ext>
            </a:extLst>
          </p:cNvPr>
          <p:cNvSpPr/>
          <p:nvPr/>
        </p:nvSpPr>
        <p:spPr>
          <a:xfrm>
            <a:off x="3864792" y="4489838"/>
            <a:ext cx="1674689" cy="2995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Behavioral Anomaly Detection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2DCD5D0-8446-3642-3C20-350827EE4512}"/>
              </a:ext>
            </a:extLst>
          </p:cNvPr>
          <p:cNvSpPr/>
          <p:nvPr/>
        </p:nvSpPr>
        <p:spPr>
          <a:xfrm>
            <a:off x="6304904" y="4495591"/>
            <a:ext cx="1787705" cy="2995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AI-generated Content Probability Estimator</a:t>
            </a:r>
          </a:p>
        </p:txBody>
      </p:sp>
      <p:sp>
        <p:nvSpPr>
          <p:cNvPr id="23" name="Rectangle 1">
            <a:extLst>
              <a:ext uri="{FF2B5EF4-FFF2-40B4-BE49-F238E27FC236}">
                <a16:creationId xmlns:a16="http://schemas.microsoft.com/office/drawing/2014/main" id="{05DF2DB0-E4F6-59EB-74D2-ECA41D7DF2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Temporary Session Token (JWT-based)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4" name="Rectangle 2">
            <a:extLst>
              <a:ext uri="{FF2B5EF4-FFF2-40B4-BE49-F238E27FC236}">
                <a16:creationId xmlns:a16="http://schemas.microsoft.com/office/drawing/2014/main" id="{11A62966-7D07-A39D-6612-84DA2CF77F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Temporary Session Token (JWT-based)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" name="Rectangle 3">
            <a:extLst>
              <a:ext uri="{FF2B5EF4-FFF2-40B4-BE49-F238E27FC236}">
                <a16:creationId xmlns:a16="http://schemas.microsoft.com/office/drawing/2014/main" id="{3D7E8447-D45E-C139-48CB-17CE8483EA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048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Temporary Session Token (JWT-based)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CC8138C-CE6A-CAB7-0968-C100FBD17BCB}"/>
              </a:ext>
            </a:extLst>
          </p:cNvPr>
          <p:cNvSpPr/>
          <p:nvPr/>
        </p:nvSpPr>
        <p:spPr>
          <a:xfrm>
            <a:off x="1311664" y="3330710"/>
            <a:ext cx="2869812" cy="16422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3. API Gateway / Backend Server (Node.js)</a:t>
            </a:r>
            <a:endParaRPr lang="en-US" sz="1100" spc="100" dirty="0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CEF9AAA-61D8-A996-9AC6-20303FC00273}"/>
              </a:ext>
            </a:extLst>
          </p:cNvPr>
          <p:cNvSpPr/>
          <p:nvPr/>
        </p:nvSpPr>
        <p:spPr>
          <a:xfrm>
            <a:off x="1274047" y="4283737"/>
            <a:ext cx="1783478" cy="18476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4. AI Authenticity Engine</a:t>
            </a:r>
            <a:endParaRPr lang="en-US" sz="1100" spc="100" dirty="0">
              <a:solidFill>
                <a:schemeClr val="tx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D137CEB-C6EE-185A-9F67-F03981DE98A1}"/>
              </a:ext>
            </a:extLst>
          </p:cNvPr>
          <p:cNvSpPr txBox="1"/>
          <p:nvPr/>
        </p:nvSpPr>
        <p:spPr>
          <a:xfrm>
            <a:off x="2553290" y="1176580"/>
            <a:ext cx="434221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spc="100" dirty="0">
                <a:solidFill>
                  <a:schemeClr val="accent1"/>
                </a:solidFill>
              </a:rPr>
              <a:t>Architecture Diagram – </a:t>
            </a:r>
            <a:r>
              <a:rPr lang="en-US" b="1" spc="100" dirty="0" err="1">
                <a:solidFill>
                  <a:schemeClr val="accent1"/>
                </a:solidFill>
              </a:rPr>
              <a:t>AuthentiCampus</a:t>
            </a:r>
            <a:r>
              <a:rPr lang="en-US" b="1" spc="100" dirty="0">
                <a:solidFill>
                  <a:schemeClr val="accent1"/>
                </a:solidFill>
              </a:rPr>
              <a:t> AI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B740D35E-953A-3504-B397-3C2607E4A7D8}"/>
              </a:ext>
            </a:extLst>
          </p:cNvPr>
          <p:cNvCxnSpPr/>
          <p:nvPr/>
        </p:nvCxnSpPr>
        <p:spPr>
          <a:xfrm>
            <a:off x="638175" y="1778018"/>
            <a:ext cx="0" cy="27118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86DEAF71-89CF-C09D-BE90-51EA9B0441EA}"/>
              </a:ext>
            </a:extLst>
          </p:cNvPr>
          <p:cNvCxnSpPr/>
          <p:nvPr/>
        </p:nvCxnSpPr>
        <p:spPr>
          <a:xfrm>
            <a:off x="638175" y="1778018"/>
            <a:ext cx="67348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12DA2432-2F24-3C82-B937-54599E9F23DF}"/>
              </a:ext>
            </a:extLst>
          </p:cNvPr>
          <p:cNvCxnSpPr/>
          <p:nvPr/>
        </p:nvCxnSpPr>
        <p:spPr>
          <a:xfrm>
            <a:off x="638175" y="2657915"/>
            <a:ext cx="67348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5D24A8C4-04CC-5620-F04B-2100BB765707}"/>
              </a:ext>
            </a:extLst>
          </p:cNvPr>
          <p:cNvCxnSpPr/>
          <p:nvPr/>
        </p:nvCxnSpPr>
        <p:spPr>
          <a:xfrm>
            <a:off x="638174" y="4489838"/>
            <a:ext cx="67348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9CA94F6A-2AE0-A544-C6FA-D6105D73DB7E}"/>
              </a:ext>
            </a:extLst>
          </p:cNvPr>
          <p:cNvCxnSpPr>
            <a:stCxn id="6" idx="2"/>
            <a:endCxn id="3" idx="0"/>
          </p:cNvCxnSpPr>
          <p:nvPr/>
        </p:nvCxnSpPr>
        <p:spPr>
          <a:xfrm flipH="1">
            <a:off x="4702138" y="2111157"/>
            <a:ext cx="1" cy="2950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5686DB0E-7D07-8765-CC2B-65FF8A828DBC}"/>
              </a:ext>
            </a:extLst>
          </p:cNvPr>
          <p:cNvCxnSpPr/>
          <p:nvPr/>
        </p:nvCxnSpPr>
        <p:spPr>
          <a:xfrm flipH="1">
            <a:off x="4733923" y="2969260"/>
            <a:ext cx="1" cy="2950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26BAF625-82CA-E5E5-2535-319D20012B88}"/>
              </a:ext>
            </a:extLst>
          </p:cNvPr>
          <p:cNvCxnSpPr/>
          <p:nvPr/>
        </p:nvCxnSpPr>
        <p:spPr>
          <a:xfrm flipH="1">
            <a:off x="4765708" y="3905287"/>
            <a:ext cx="1" cy="2950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6710BD07-AEA0-A95C-BA55-07F14A6E0D1E}"/>
              </a:ext>
            </a:extLst>
          </p:cNvPr>
          <p:cNvCxnSpPr/>
          <p:nvPr/>
        </p:nvCxnSpPr>
        <p:spPr>
          <a:xfrm flipH="1">
            <a:off x="974918" y="3545058"/>
            <a:ext cx="33674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DD53CC8B-0D6E-20EF-57E1-7C7BB447C328}"/>
              </a:ext>
            </a:extLst>
          </p:cNvPr>
          <p:cNvCxnSpPr>
            <a:cxnSpLocks/>
          </p:cNvCxnSpPr>
          <p:nvPr/>
        </p:nvCxnSpPr>
        <p:spPr>
          <a:xfrm>
            <a:off x="974918" y="3562063"/>
            <a:ext cx="0" cy="9491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25" title="AMD.PS.S22.png"/>
          <p:cNvPicPr preferRelativeResize="0"/>
          <p:nvPr/>
        </p:nvPicPr>
        <p:blipFill rotWithShape="1">
          <a:blip r:embed="rId3">
            <a:alphaModFix/>
          </a:blip>
          <a:srcRect b="89082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5" title="AMD.PS.S11.png"/>
          <p:cNvPicPr preferRelativeResize="0"/>
          <p:nvPr/>
        </p:nvPicPr>
        <p:blipFill rotWithShape="1">
          <a:blip r:embed="rId4">
            <a:alphaModFix/>
          </a:blip>
          <a:srcRect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057B6F0-2434-4C03-CA51-47392F2B20FE}"/>
              </a:ext>
            </a:extLst>
          </p:cNvPr>
          <p:cNvSpPr/>
          <p:nvPr/>
        </p:nvSpPr>
        <p:spPr>
          <a:xfrm>
            <a:off x="1266669" y="2178453"/>
            <a:ext cx="6780944" cy="60158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6BEC87E-D8E6-F463-FB0A-05684567ED95}"/>
              </a:ext>
            </a:extLst>
          </p:cNvPr>
          <p:cNvSpPr/>
          <p:nvPr/>
        </p:nvSpPr>
        <p:spPr>
          <a:xfrm>
            <a:off x="1266669" y="1195418"/>
            <a:ext cx="6780944" cy="60158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4E5BE01-8633-6B0B-1AF3-AA77BA0D614B}"/>
              </a:ext>
            </a:extLst>
          </p:cNvPr>
          <p:cNvSpPr/>
          <p:nvPr/>
        </p:nvSpPr>
        <p:spPr>
          <a:xfrm>
            <a:off x="1266669" y="3172829"/>
            <a:ext cx="6780944" cy="60158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9BD7FFF-0449-5B8C-6361-31AED7BE72C6}"/>
              </a:ext>
            </a:extLst>
          </p:cNvPr>
          <p:cNvSpPr/>
          <p:nvPr/>
        </p:nvSpPr>
        <p:spPr>
          <a:xfrm>
            <a:off x="1266669" y="4088713"/>
            <a:ext cx="6780944" cy="60158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9A6CD6C-ACB4-91C3-D30C-867E01BC1481}"/>
              </a:ext>
            </a:extLst>
          </p:cNvPr>
          <p:cNvSpPr/>
          <p:nvPr/>
        </p:nvSpPr>
        <p:spPr>
          <a:xfrm>
            <a:off x="1266669" y="1227876"/>
            <a:ext cx="1739289" cy="16980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5. Risk Scoring Engine</a:t>
            </a:r>
            <a:endParaRPr lang="en-US" sz="1100" spc="100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3365C9D-2CEA-D25A-1657-1C245E09973D}"/>
              </a:ext>
            </a:extLst>
          </p:cNvPr>
          <p:cNvSpPr/>
          <p:nvPr/>
        </p:nvSpPr>
        <p:spPr>
          <a:xfrm>
            <a:off x="1266668" y="2207028"/>
            <a:ext cx="1739289" cy="1822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6. Explainable AI Module</a:t>
            </a:r>
            <a:endParaRPr lang="en-US" sz="1100" spc="100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B77D2F8-64B2-0ADD-82F2-ED051C4B2CA5}"/>
              </a:ext>
            </a:extLst>
          </p:cNvPr>
          <p:cNvSpPr/>
          <p:nvPr/>
        </p:nvSpPr>
        <p:spPr>
          <a:xfrm>
            <a:off x="1193094" y="3208115"/>
            <a:ext cx="1326758" cy="17459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7. Privacy Layer</a:t>
            </a:r>
            <a:endParaRPr lang="en-US" sz="1100" spc="100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AAAB5B7-B53F-D741-D957-26542B80CC44}"/>
              </a:ext>
            </a:extLst>
          </p:cNvPr>
          <p:cNvSpPr/>
          <p:nvPr/>
        </p:nvSpPr>
        <p:spPr>
          <a:xfrm>
            <a:off x="1266668" y="4111614"/>
            <a:ext cx="1539594" cy="19960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100" dirty="0"/>
              <a:t>8. Secure Database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9BCECCE-379E-6FAA-7CDF-0BCEA9800F33}"/>
              </a:ext>
            </a:extLst>
          </p:cNvPr>
          <p:cNvSpPr/>
          <p:nvPr/>
        </p:nvSpPr>
        <p:spPr>
          <a:xfrm>
            <a:off x="1266668" y="1456465"/>
            <a:ext cx="1935015" cy="3331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Weighted Risk Calculation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DCFE299-5618-1C36-3CAE-C820909A8014}"/>
              </a:ext>
            </a:extLst>
          </p:cNvPr>
          <p:cNvSpPr/>
          <p:nvPr/>
        </p:nvSpPr>
        <p:spPr>
          <a:xfrm>
            <a:off x="1266667" y="2437333"/>
            <a:ext cx="1935015" cy="3331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Converts anomaly signals into plain-language insights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B11BD2B-A5F2-1546-3AAC-C4B20BFEA5CC}"/>
              </a:ext>
            </a:extLst>
          </p:cNvPr>
          <p:cNvSpPr/>
          <p:nvPr/>
        </p:nvSpPr>
        <p:spPr>
          <a:xfrm>
            <a:off x="1266666" y="3418201"/>
            <a:ext cx="1935015" cy="3331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No raw biometric storage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79C8948-B15B-C3C4-030C-F8C18D332B71}"/>
              </a:ext>
            </a:extLst>
          </p:cNvPr>
          <p:cNvSpPr/>
          <p:nvPr/>
        </p:nvSpPr>
        <p:spPr>
          <a:xfrm>
            <a:off x="1266666" y="4334288"/>
            <a:ext cx="1935015" cy="3331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Session logs (metadata only)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76F6330-C8C8-00D4-EB75-B59312C9F31C}"/>
              </a:ext>
            </a:extLst>
          </p:cNvPr>
          <p:cNvSpPr/>
          <p:nvPr/>
        </p:nvSpPr>
        <p:spPr>
          <a:xfrm>
            <a:off x="3835719" y="1439528"/>
            <a:ext cx="1935015" cy="3331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Authenticity Score Generator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5B4E3D1-5203-7652-8220-7B138F2F2391}"/>
              </a:ext>
            </a:extLst>
          </p:cNvPr>
          <p:cNvSpPr/>
          <p:nvPr/>
        </p:nvSpPr>
        <p:spPr>
          <a:xfrm>
            <a:off x="6112598" y="1452521"/>
            <a:ext cx="1935015" cy="3331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Confidence Level Assessment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05C1E9B-9026-6BF1-BB6A-C2605C6C965D}"/>
              </a:ext>
            </a:extLst>
          </p:cNvPr>
          <p:cNvSpPr/>
          <p:nvPr/>
        </p:nvSpPr>
        <p:spPr>
          <a:xfrm>
            <a:off x="3835719" y="2446897"/>
            <a:ext cx="1935015" cy="3331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Generates decision-ready summary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75F261B-94C5-FCE6-637C-090ADB12FA27}"/>
              </a:ext>
            </a:extLst>
          </p:cNvPr>
          <p:cNvSpPr/>
          <p:nvPr/>
        </p:nvSpPr>
        <p:spPr>
          <a:xfrm>
            <a:off x="3835719" y="3430491"/>
            <a:ext cx="1935015" cy="3331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Metadata-only logging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52637D8-AD73-7984-D7E8-7BF2945DE7E5}"/>
              </a:ext>
            </a:extLst>
          </p:cNvPr>
          <p:cNvSpPr/>
          <p:nvPr/>
        </p:nvSpPr>
        <p:spPr>
          <a:xfrm>
            <a:off x="3835719" y="4334288"/>
            <a:ext cx="1935015" cy="3331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Risk reports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01A9618-A46A-192F-BA3A-FE0CC41D331E}"/>
              </a:ext>
            </a:extLst>
          </p:cNvPr>
          <p:cNvSpPr/>
          <p:nvPr/>
        </p:nvSpPr>
        <p:spPr>
          <a:xfrm>
            <a:off x="6112598" y="2435088"/>
            <a:ext cx="1935015" cy="3331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Student / Application Web Interface (Web/App)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1207E79-DE5C-F064-1CE6-925913677DE7}"/>
              </a:ext>
            </a:extLst>
          </p:cNvPr>
          <p:cNvSpPr/>
          <p:nvPr/>
        </p:nvSpPr>
        <p:spPr>
          <a:xfrm>
            <a:off x="6112598" y="3441273"/>
            <a:ext cx="1935015" cy="3331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Encrypted feature vectors &amp; Auto-session data deletion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203AB4F-2442-BDC3-2FA4-193D1B7E6472}"/>
              </a:ext>
            </a:extLst>
          </p:cNvPr>
          <p:cNvSpPr/>
          <p:nvPr/>
        </p:nvSpPr>
        <p:spPr>
          <a:xfrm>
            <a:off x="6112598" y="4334288"/>
            <a:ext cx="1935015" cy="3331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Admin audit records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7D7121D-398B-CA43-3476-6E6E02AAD554}"/>
              </a:ext>
            </a:extLst>
          </p:cNvPr>
          <p:cNvCxnSpPr/>
          <p:nvPr/>
        </p:nvCxnSpPr>
        <p:spPr>
          <a:xfrm>
            <a:off x="756745" y="1452521"/>
            <a:ext cx="0" cy="9943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DAFF796-5648-8083-8DAF-F57639BABD7A}"/>
              </a:ext>
            </a:extLst>
          </p:cNvPr>
          <p:cNvCxnSpPr>
            <a:cxnSpLocks/>
          </p:cNvCxnSpPr>
          <p:nvPr/>
        </p:nvCxnSpPr>
        <p:spPr>
          <a:xfrm>
            <a:off x="756745" y="1452521"/>
            <a:ext cx="50992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176F37B6-1AC7-D839-C797-23AC75BD0727}"/>
              </a:ext>
            </a:extLst>
          </p:cNvPr>
          <p:cNvCxnSpPr>
            <a:cxnSpLocks/>
          </p:cNvCxnSpPr>
          <p:nvPr/>
        </p:nvCxnSpPr>
        <p:spPr>
          <a:xfrm flipV="1">
            <a:off x="756745" y="2430896"/>
            <a:ext cx="509920" cy="41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E922BF78-9723-0745-8C69-3417DA717ECF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4657141" y="2830958"/>
            <a:ext cx="0" cy="341871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007752F3-8E36-BADA-32C6-96316E5E09E7}"/>
              </a:ext>
            </a:extLst>
          </p:cNvPr>
          <p:cNvCxnSpPr>
            <a:cxnSpLocks/>
          </p:cNvCxnSpPr>
          <p:nvPr/>
        </p:nvCxnSpPr>
        <p:spPr>
          <a:xfrm>
            <a:off x="4657141" y="3751341"/>
            <a:ext cx="0" cy="341871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620" b="1" dirty="0">
                <a:latin typeface="Poppins"/>
                <a:ea typeface="Poppins"/>
                <a:cs typeface="Poppins"/>
                <a:sym typeface="Poppins"/>
              </a:rPr>
              <a:t>Technologies to be used in the solution</a:t>
            </a:r>
            <a:endParaRPr sz="1620" b="1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3" name="Google Shape;113;p20"/>
          <p:cNvSpPr txBox="1">
            <a:spLocks noGrp="1"/>
          </p:cNvSpPr>
          <p:nvPr>
            <p:ph type="subTitle" idx="1"/>
          </p:nvPr>
        </p:nvSpPr>
        <p:spPr>
          <a:xfrm>
            <a:off x="311700" y="1249775"/>
            <a:ext cx="8520600" cy="3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/>
            <a:r>
              <a:rPr lang="en-US" sz="1600" spc="60" dirty="0">
                <a:highlight>
                  <a:srgbClr val="C0C0C0"/>
                </a:highlight>
              </a:rPr>
              <a:t>Technologies to be Used</a:t>
            </a:r>
            <a:endParaRPr sz="1600" spc="60" dirty="0">
              <a:highlight>
                <a:srgbClr val="C0C0C0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14" name="Google Shape;114;p20" title="AMD.PS.S22.png"/>
          <p:cNvPicPr preferRelativeResize="0"/>
          <p:nvPr/>
        </p:nvPicPr>
        <p:blipFill rotWithShape="1">
          <a:blip r:embed="rId3">
            <a:alphaModFix/>
          </a:blip>
          <a:srcRect b="89082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20" title="AMD.PS.S11.png"/>
          <p:cNvPicPr preferRelativeResize="0"/>
          <p:nvPr/>
        </p:nvPicPr>
        <p:blipFill rotWithShape="1">
          <a:blip r:embed="rId4">
            <a:alphaModFix/>
          </a:blip>
          <a:srcRect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277FDA6-9100-58E5-F97E-76EC389F86D9}"/>
              </a:ext>
            </a:extLst>
          </p:cNvPr>
          <p:cNvSpPr/>
          <p:nvPr/>
        </p:nvSpPr>
        <p:spPr>
          <a:xfrm>
            <a:off x="399392" y="1944414"/>
            <a:ext cx="2511973" cy="73572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🌐 Frontend</a:t>
            </a:r>
          </a:p>
          <a:p>
            <a:r>
              <a:rPr lang="en-US" sz="1200" dirty="0"/>
              <a:t>React.js (User &amp; Admin Interface)</a:t>
            </a:r>
          </a:p>
          <a:p>
            <a:r>
              <a:rPr lang="en-US" sz="1200" dirty="0"/>
              <a:t>Tailwind CSS (Clean UI Design)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A21C3AA-D7C8-648E-FEEE-0DEA7710BCC0}"/>
              </a:ext>
            </a:extLst>
          </p:cNvPr>
          <p:cNvSpPr/>
          <p:nvPr/>
        </p:nvSpPr>
        <p:spPr>
          <a:xfrm>
            <a:off x="6320326" y="1944414"/>
            <a:ext cx="2511973" cy="106826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2">
                    <a:lumMod val="90000"/>
                    <a:lumOff val="10000"/>
                  </a:schemeClr>
                </a:solidFill>
              </a:rPr>
              <a:t>🧠 AI &amp; Analysis Layer</a:t>
            </a:r>
          </a:p>
          <a:p>
            <a:pPr algn="ctr"/>
            <a:r>
              <a:rPr lang="en-US" sz="1030" dirty="0">
                <a:solidFill>
                  <a:schemeClr val="accent2">
                    <a:lumMod val="90000"/>
                    <a:lumOff val="10000"/>
                  </a:schemeClr>
                </a:solidFill>
              </a:rPr>
              <a:t>Python (Media Feature Extraction)</a:t>
            </a:r>
          </a:p>
          <a:p>
            <a:pPr algn="ctr"/>
            <a:r>
              <a:rPr lang="en-US" sz="1030" dirty="0">
                <a:solidFill>
                  <a:schemeClr val="accent2">
                    <a:lumMod val="90000"/>
                    <a:lumOff val="10000"/>
                  </a:schemeClr>
                </a:solidFill>
              </a:rPr>
              <a:t>OpenCV (Video frame analysis)</a:t>
            </a:r>
          </a:p>
          <a:p>
            <a:pPr algn="ctr"/>
            <a:r>
              <a:rPr lang="en-US" sz="1030" dirty="0">
                <a:solidFill>
                  <a:schemeClr val="accent2">
                    <a:lumMod val="90000"/>
                    <a:lumOff val="10000"/>
                  </a:schemeClr>
                </a:solidFill>
              </a:rPr>
              <a:t>Libros (Audio signal analysis)</a:t>
            </a:r>
          </a:p>
          <a:p>
            <a:pPr algn="ctr"/>
            <a:r>
              <a:rPr lang="en-US" sz="900" dirty="0">
                <a:solidFill>
                  <a:schemeClr val="accent2">
                    <a:lumMod val="90000"/>
                    <a:lumOff val="10000"/>
                  </a:schemeClr>
                </a:solidFill>
              </a:rPr>
              <a:t>NLP Models for AI-generated text detection</a:t>
            </a:r>
          </a:p>
          <a:p>
            <a:pPr algn="ctr"/>
            <a:r>
              <a:rPr lang="en-US" sz="1030" dirty="0">
                <a:solidFill>
                  <a:schemeClr val="accent2">
                    <a:lumMod val="90000"/>
                    <a:lumOff val="10000"/>
                  </a:schemeClr>
                </a:solidFill>
              </a:rPr>
              <a:t>LLM API for Explainable Risk Reporting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1CF60BD-3386-6A35-E8E1-B1172252FF26}"/>
              </a:ext>
            </a:extLst>
          </p:cNvPr>
          <p:cNvSpPr/>
          <p:nvPr/>
        </p:nvSpPr>
        <p:spPr>
          <a:xfrm>
            <a:off x="3758348" y="1944414"/>
            <a:ext cx="2238704" cy="7357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>
                <a:solidFill>
                  <a:schemeClr val="accent1"/>
                </a:solidFill>
              </a:rPr>
              <a:t>🔐 Backend</a:t>
            </a:r>
          </a:p>
          <a:p>
            <a:pPr algn="ctr"/>
            <a:r>
              <a:rPr lang="en-US" sz="1000" dirty="0">
                <a:solidFill>
                  <a:schemeClr val="accent1"/>
                </a:solidFill>
              </a:rPr>
              <a:t>Node.js + Express.js</a:t>
            </a:r>
          </a:p>
          <a:p>
            <a:pPr algn="ctr"/>
            <a:r>
              <a:rPr lang="en-US" sz="1000" dirty="0">
                <a:solidFill>
                  <a:schemeClr val="accent1"/>
                </a:solidFill>
              </a:rPr>
              <a:t>RESTful APIs</a:t>
            </a:r>
          </a:p>
          <a:p>
            <a:pPr algn="ctr"/>
            <a:r>
              <a:rPr lang="en-US" sz="1000" dirty="0">
                <a:solidFill>
                  <a:schemeClr val="accent1"/>
                </a:solidFill>
              </a:rPr>
              <a:t>JWT-based Session Management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ABAE65-5D6E-C9D4-8183-270A63E6351D}"/>
              </a:ext>
            </a:extLst>
          </p:cNvPr>
          <p:cNvSpPr/>
          <p:nvPr/>
        </p:nvSpPr>
        <p:spPr>
          <a:xfrm>
            <a:off x="555242" y="3525863"/>
            <a:ext cx="2406869" cy="899311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🛡️ Security &amp; Privacy</a:t>
            </a:r>
          </a:p>
          <a:p>
            <a:pPr algn="ctr"/>
            <a:endParaRPr lang="en-US" sz="200" b="1" dirty="0"/>
          </a:p>
          <a:p>
            <a:pPr algn="ctr"/>
            <a:r>
              <a:rPr lang="en-US" sz="1050" dirty="0"/>
              <a:t>HTTPS / TLS Encryption</a:t>
            </a:r>
          </a:p>
          <a:p>
            <a:pPr algn="ctr"/>
            <a:r>
              <a:rPr lang="en-US" sz="1050" dirty="0"/>
              <a:t>Metadata Hashing (SHA-256)</a:t>
            </a:r>
          </a:p>
          <a:p>
            <a:pPr algn="ctr"/>
            <a:r>
              <a:rPr lang="en-US" sz="1050" dirty="0"/>
              <a:t>Role-Based Access Control (RBAC</a:t>
            </a:r>
            <a:r>
              <a:rPr lang="en-US" sz="900" dirty="0"/>
              <a:t>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77D149F-50A2-19A0-B1FC-59C236504B70}"/>
              </a:ext>
            </a:extLst>
          </p:cNvPr>
          <p:cNvSpPr/>
          <p:nvPr/>
        </p:nvSpPr>
        <p:spPr>
          <a:xfrm>
            <a:off x="6710852" y="3591533"/>
            <a:ext cx="2121447" cy="735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1000" b="1" dirty="0"/>
              <a:t>☁️ Deployment (Prototype)</a:t>
            </a:r>
          </a:p>
          <a:p>
            <a:pPr algn="ctr">
              <a:lnSpc>
                <a:spcPct val="150000"/>
              </a:lnSpc>
            </a:pPr>
            <a:r>
              <a:rPr lang="en-US" sz="1000" dirty="0" err="1"/>
              <a:t>Vercel</a:t>
            </a:r>
            <a:r>
              <a:rPr lang="en-US" sz="1000" dirty="0"/>
              <a:t> / Render (Frontend)</a:t>
            </a:r>
          </a:p>
          <a:p>
            <a:pPr algn="ctr"/>
            <a:r>
              <a:rPr lang="en-US" sz="1000" dirty="0"/>
              <a:t>Node Server (Cloud deployment)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B58E706-ABC2-008E-7C4C-FB668FDF9DB7}"/>
              </a:ext>
            </a:extLst>
          </p:cNvPr>
          <p:cNvSpPr/>
          <p:nvPr/>
        </p:nvSpPr>
        <p:spPr>
          <a:xfrm>
            <a:off x="3858196" y="3607656"/>
            <a:ext cx="2039009" cy="735724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/>
              <a:t>🗄️ Database</a:t>
            </a:r>
          </a:p>
          <a:p>
            <a:pPr algn="ctr"/>
            <a:r>
              <a:rPr lang="en-US" sz="1100" dirty="0"/>
              <a:t>MongoDB</a:t>
            </a:r>
          </a:p>
          <a:p>
            <a:pPr algn="ctr"/>
            <a:r>
              <a:rPr lang="en-US" sz="1100" dirty="0"/>
              <a:t> (Metadata &amp; Risk Logs only)</a:t>
            </a:r>
          </a:p>
          <a:p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620" b="1" dirty="0">
                <a:latin typeface="Poppins"/>
                <a:ea typeface="Poppins"/>
                <a:cs typeface="Poppins"/>
                <a:sym typeface="Poppins"/>
              </a:rPr>
              <a:t>Usage of AMD Products/Solutions</a:t>
            </a:r>
            <a:endParaRPr sz="1620" b="1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1" name="Google Shape;121;p21"/>
          <p:cNvSpPr txBox="1">
            <a:spLocks noGrp="1"/>
          </p:cNvSpPr>
          <p:nvPr>
            <p:ph type="subTitle" idx="1"/>
          </p:nvPr>
        </p:nvSpPr>
        <p:spPr>
          <a:xfrm>
            <a:off x="311700" y="1249775"/>
            <a:ext cx="8520600" cy="3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algn="l"/>
            <a:r>
              <a:rPr lang="en-US" sz="1400" dirty="0" err="1"/>
              <a:t>AuthentiCampus</a:t>
            </a:r>
            <a:r>
              <a:rPr lang="en-US" sz="1400" dirty="0"/>
              <a:t> AI can leverage AMD’s AI and compute ecosystem to enable scalable and efficient</a:t>
            </a:r>
          </a:p>
          <a:p>
            <a:pPr algn="l"/>
            <a:r>
              <a:rPr lang="en-US" sz="1400" dirty="0"/>
              <a:t>authenticity verification:</a:t>
            </a:r>
          </a:p>
          <a:p>
            <a:pPr algn="l"/>
            <a:endParaRPr lang="en-US" sz="1400" dirty="0"/>
          </a:p>
          <a:p>
            <a:pPr algn="l"/>
            <a:endParaRPr lang="en-US" sz="1400" dirty="0"/>
          </a:p>
          <a:p>
            <a:pPr algn="l">
              <a:buSzPct val="115000"/>
              <a:buFont typeface="Arial" panose="020B0604020202020204" pitchFamily="34" charset="0"/>
              <a:buChar char="•"/>
            </a:pPr>
            <a:r>
              <a:rPr lang="en-US" sz="1400" b="1" dirty="0"/>
              <a:t>AMD Ryzen™ AI / XDNA™ NPUs</a:t>
            </a:r>
            <a:r>
              <a:rPr lang="en-US" sz="1400" dirty="0"/>
              <a:t> for edge-based AI inference during real-time media verification</a:t>
            </a:r>
          </a:p>
          <a:p>
            <a:pPr algn="l">
              <a:buSzPct val="115000"/>
              <a:buFont typeface="Arial" panose="020B0604020202020204" pitchFamily="34" charset="0"/>
              <a:buChar char="•"/>
            </a:pPr>
            <a:r>
              <a:rPr lang="en-US" sz="1400" b="1" dirty="0"/>
              <a:t>AMD Radeon™ GPUs</a:t>
            </a:r>
            <a:r>
              <a:rPr lang="en-US" sz="1400" dirty="0"/>
              <a:t> for accelerated deepfake detection and media analysis workloads</a:t>
            </a:r>
          </a:p>
          <a:p>
            <a:pPr algn="l">
              <a:buSzPct val="115000"/>
              <a:buFont typeface="Arial" panose="020B0604020202020204" pitchFamily="34" charset="0"/>
              <a:buChar char="•"/>
            </a:pPr>
            <a:r>
              <a:rPr lang="en-US" sz="1400" b="1" dirty="0"/>
              <a:t>AMD EPYC™ Processors</a:t>
            </a:r>
            <a:r>
              <a:rPr lang="en-US" sz="1400" dirty="0"/>
              <a:t> for scalable backend deployment in institutional data centers</a:t>
            </a:r>
          </a:p>
          <a:p>
            <a:pPr algn="l">
              <a:buSzPct val="115000"/>
              <a:buFont typeface="Arial" panose="020B0604020202020204" pitchFamily="34" charset="0"/>
              <a:buChar char="•"/>
            </a:pPr>
            <a:r>
              <a:rPr lang="en-US" sz="1400" dirty="0"/>
              <a:t>GPU-accelerated AI model training and anomaly detection pipelines</a:t>
            </a:r>
          </a:p>
          <a:p>
            <a:pPr algn="l"/>
            <a:endParaRPr lang="en-US" sz="1400" dirty="0"/>
          </a:p>
          <a:p>
            <a:pPr algn="l"/>
            <a:endParaRPr lang="en-US" sz="1400" dirty="0"/>
          </a:p>
          <a:p>
            <a:r>
              <a:rPr lang="en-US" sz="1400" dirty="0"/>
              <a:t>The solution is designed to run efficiently on high-performance computing systems, enabling faster media processing and secure, large-scale deployment across campuses.</a:t>
            </a:r>
          </a:p>
        </p:txBody>
      </p:sp>
      <p:pic>
        <p:nvPicPr>
          <p:cNvPr id="122" name="Google Shape;122;p21" title="AMD.PS.S22.png"/>
          <p:cNvPicPr preferRelativeResize="0"/>
          <p:nvPr/>
        </p:nvPicPr>
        <p:blipFill rotWithShape="1">
          <a:blip r:embed="rId3">
            <a:alphaModFix/>
          </a:blip>
          <a:srcRect b="89082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21" title="AMD.PS.S11.png"/>
          <p:cNvPicPr preferRelativeResize="0"/>
          <p:nvPr/>
        </p:nvPicPr>
        <p:blipFill rotWithShape="1">
          <a:blip r:embed="rId4">
            <a:alphaModFix/>
          </a:blip>
          <a:srcRect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2"/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620" b="1" dirty="0">
                <a:latin typeface="Poppins"/>
                <a:ea typeface="Poppins"/>
                <a:cs typeface="Poppins"/>
                <a:sym typeface="Poppins"/>
              </a:rPr>
              <a:t>Estimated implementation cost (optional)</a:t>
            </a:r>
            <a:endParaRPr sz="1620" b="1" dirty="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30" name="Google Shape;130;p22" title="AMD.PS.S22.png"/>
          <p:cNvPicPr preferRelativeResize="0"/>
          <p:nvPr/>
        </p:nvPicPr>
        <p:blipFill rotWithShape="1">
          <a:blip r:embed="rId3">
            <a:alphaModFix/>
          </a:blip>
          <a:srcRect b="89082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2" title="AMD.PS.S11.png"/>
          <p:cNvPicPr preferRelativeResize="0"/>
          <p:nvPr/>
        </p:nvPicPr>
        <p:blipFill rotWithShape="1">
          <a:blip r:embed="rId4">
            <a:alphaModFix/>
          </a:blip>
          <a:srcRect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F45F3D9-5237-400C-34A5-892729DDF95D}"/>
              </a:ext>
            </a:extLst>
          </p:cNvPr>
          <p:cNvSpPr/>
          <p:nvPr/>
        </p:nvSpPr>
        <p:spPr>
          <a:xfrm>
            <a:off x="1224455" y="1387367"/>
            <a:ext cx="6695089" cy="134385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🔹 Prototype Development (3–4 Months)</a:t>
            </a:r>
          </a:p>
          <a:p>
            <a:pPr algn="ctr"/>
            <a:endParaRPr lang="en-US" sz="300" b="1" dirty="0">
              <a:solidFill>
                <a:schemeClr val="accent5">
                  <a:lumMod val="50000"/>
                </a:schemeClr>
              </a:solidFill>
            </a:endParaRPr>
          </a:p>
          <a:p>
            <a:pPr algn="ctr"/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Development &amp; Testing: ₹2–4 Lakhs</a:t>
            </a:r>
          </a:p>
          <a:p>
            <a:pPr algn="ctr"/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Cloud Hosting &amp; Storage: ₹25,000 – ₹50,000</a:t>
            </a:r>
          </a:p>
          <a:p>
            <a:pPr algn="ctr"/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AI API Usage &amp; Model Integration: ₹50,000 – ₹1 Lakh</a:t>
            </a:r>
          </a:p>
          <a:p>
            <a:pPr algn="ctr"/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Estimated Prototype Cost:</a:t>
            </a:r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 ₹3–5 Lakhs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6DBF4D5-525B-A313-E3F8-F38CD73C2740}"/>
              </a:ext>
            </a:extLst>
          </p:cNvPr>
          <p:cNvSpPr/>
          <p:nvPr/>
        </p:nvSpPr>
        <p:spPr>
          <a:xfrm>
            <a:off x="1224455" y="3099949"/>
            <a:ext cx="6695089" cy="146785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🔹 Institutional Deployment (Per Campus – Annual)</a:t>
            </a:r>
          </a:p>
          <a:p>
            <a:pPr algn="ctr"/>
            <a:endParaRPr lang="en-US" sz="300" b="1" dirty="0">
              <a:solidFill>
                <a:schemeClr val="accent5">
                  <a:lumMod val="50000"/>
                </a:schemeClr>
              </a:solidFill>
            </a:endParaRPr>
          </a:p>
          <a:p>
            <a:pPr algn="ctr"/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Cloud Infrastructure / GPU Compute: ₹2–6 Lakhs</a:t>
            </a:r>
          </a:p>
          <a:p>
            <a:pPr algn="ctr"/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Maintenance &amp; Security Updates: ₹1–2 Lakhs</a:t>
            </a:r>
          </a:p>
          <a:p>
            <a:pPr algn="ctr"/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Monitoring &amp; Support: ₹1 Lakh</a:t>
            </a:r>
          </a:p>
          <a:p>
            <a:pPr algn="ctr"/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Estimated Annual Deployment Cost:</a:t>
            </a:r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 ₹4–9 Lakhs per institution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3"/>
          <p:cNvSpPr txBox="1">
            <a:spLocks noGrp="1"/>
          </p:cNvSpPr>
          <p:nvPr>
            <p:ph type="subTitle" idx="1"/>
          </p:nvPr>
        </p:nvSpPr>
        <p:spPr>
          <a:xfrm>
            <a:off x="311700" y="1926000"/>
            <a:ext cx="8520600" cy="284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Poppins"/>
                <a:ea typeface="Poppins"/>
                <a:cs typeface="Poppins"/>
                <a:sym typeface="Poppins"/>
              </a:rPr>
              <a:t>Type here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7" name="Google Shape;137;p23"/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620" b="1" dirty="0">
                <a:latin typeface="Poppins"/>
                <a:ea typeface="Poppins"/>
                <a:cs typeface="Poppins"/>
                <a:sym typeface="Poppins"/>
              </a:rPr>
              <a:t>Prototype Assets (Optional)</a:t>
            </a:r>
            <a:endParaRPr sz="1620" b="1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8" name="Google Shape;138;p23"/>
          <p:cNvSpPr txBox="1"/>
          <p:nvPr/>
        </p:nvSpPr>
        <p:spPr>
          <a:xfrm>
            <a:off x="311700" y="1192175"/>
            <a:ext cx="8520600" cy="6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➔"/>
            </a:pPr>
            <a:r>
              <a:rPr lang="en-GB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GitHub Public Repository Link</a:t>
            </a:r>
            <a:endParaRPr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➔"/>
            </a:pPr>
            <a:r>
              <a:rPr lang="en-GB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Demo Video Link (Max: 3 Minutes)</a:t>
            </a:r>
            <a:endParaRPr dirty="0"/>
          </a:p>
        </p:txBody>
      </p:sp>
      <p:pic>
        <p:nvPicPr>
          <p:cNvPr id="139" name="Google Shape;139;p23" title="AMD.PS.S22.png"/>
          <p:cNvPicPr preferRelativeResize="0"/>
          <p:nvPr/>
        </p:nvPicPr>
        <p:blipFill rotWithShape="1">
          <a:blip r:embed="rId3">
            <a:alphaModFix/>
          </a:blip>
          <a:srcRect b="89082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3" title="AMD.PS.S11.png"/>
          <p:cNvPicPr preferRelativeResize="0"/>
          <p:nvPr/>
        </p:nvPicPr>
        <p:blipFill rotWithShape="1">
          <a:blip r:embed="rId4">
            <a:alphaModFix/>
          </a:blip>
          <a:srcRect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4"/>
          <p:cNvSpPr txBox="1">
            <a:spLocks noGrp="1"/>
          </p:cNvSpPr>
          <p:nvPr>
            <p:ph type="subTitle" idx="1"/>
          </p:nvPr>
        </p:nvSpPr>
        <p:spPr>
          <a:xfrm>
            <a:off x="311700" y="1285750"/>
            <a:ext cx="8520600" cy="348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Poppins"/>
                <a:ea typeface="Poppins"/>
                <a:cs typeface="Poppins"/>
                <a:sym typeface="Poppins"/>
              </a:rPr>
              <a:t>Type here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6" name="Google Shape;146;p24"/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620" b="1">
                <a:latin typeface="Poppins"/>
                <a:ea typeface="Poppins"/>
                <a:cs typeface="Poppins"/>
                <a:sym typeface="Poppins"/>
              </a:rPr>
              <a:t>Add as per the requirements of the contest</a:t>
            </a:r>
            <a:endParaRPr sz="1620" b="1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47" name="Google Shape;147;p24" title="AMD.PS.S22.png"/>
          <p:cNvPicPr preferRelativeResize="0"/>
          <p:nvPr/>
        </p:nvPicPr>
        <p:blipFill rotWithShape="1">
          <a:blip r:embed="rId3">
            <a:alphaModFix/>
          </a:blip>
          <a:srcRect b="89082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4" title="AMD.PS.S11.png"/>
          <p:cNvPicPr preferRelativeResize="0"/>
          <p:nvPr/>
        </p:nvPicPr>
        <p:blipFill rotWithShape="1">
          <a:blip r:embed="rId4">
            <a:alphaModFix/>
          </a:blip>
          <a:srcRect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26" title="AMD.PS.S22.png"/>
          <p:cNvPicPr preferRelativeResize="0"/>
          <p:nvPr/>
        </p:nvPicPr>
        <p:blipFill rotWithShape="1">
          <a:blip r:embed="rId3">
            <a:alphaModFix/>
          </a:blip>
          <a:srcRect b="89082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6" title="AMD.PS.S11.png"/>
          <p:cNvPicPr preferRelativeResize="0"/>
          <p:nvPr/>
        </p:nvPicPr>
        <p:blipFill rotWithShape="1">
          <a:blip r:embed="rId4">
            <a:alphaModFix/>
          </a:blip>
          <a:srcRect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7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27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7" name="Google Shape;167;p27" title="AMD.PS.S33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</TotalTime>
  <Words>957</Words>
  <Application>Microsoft Office PowerPoint</Application>
  <PresentationFormat>On-screen Show (16:9)</PresentationFormat>
  <Paragraphs>164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Poppins</vt:lpstr>
      <vt:lpstr>Simple Light</vt:lpstr>
      <vt:lpstr>PowerPoint Presentation</vt:lpstr>
      <vt:lpstr>Brief about the idea</vt:lpstr>
      <vt:lpstr>Opportunities</vt:lpstr>
      <vt:lpstr>List of features offered by the solution</vt:lpstr>
      <vt:lpstr>Process flow diagram or Use-case diagram</vt:lpstr>
      <vt:lpstr>Wireframes/Mock diagrams of the proposed solution (optional)</vt:lpstr>
      <vt:lpstr>Architecture diagram of the proposed solution</vt:lpstr>
      <vt:lpstr>PowerPoint Presentation</vt:lpstr>
      <vt:lpstr>Technologies to be used in the solution</vt:lpstr>
      <vt:lpstr>Usage of AMD Products/Solutions</vt:lpstr>
      <vt:lpstr>Estimated implementation cost (optional)</vt:lpstr>
      <vt:lpstr>Prototype Assets (Optional)</vt:lpstr>
      <vt:lpstr>Add as per the requirements of the contest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Bino Sebastian</cp:lastModifiedBy>
  <cp:revision>10</cp:revision>
  <dcterms:modified xsi:type="dcterms:W3CDTF">2026-02-25T22:27:05Z</dcterms:modified>
</cp:coreProperties>
</file>